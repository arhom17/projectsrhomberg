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143500" cx="9144000"/>
  <p:notesSz cx="6858000" cy="9144000"/>
  <p:embeddedFontLst>
    <p:embeddedFont>
      <p:font typeface="Roboto"/>
      <p:regular r:id="rId39"/>
      <p:bold r:id="rId40"/>
      <p:italic r:id="rId41"/>
      <p:boldItalic r:id="rId42"/>
    </p:embeddedFont>
    <p:embeddedFont>
      <p:font typeface="Playfair Display"/>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fntdata"/><Relationship Id="rId20" Type="http://schemas.openxmlformats.org/officeDocument/2006/relationships/slide" Target="slides/slide15.xml"/><Relationship Id="rId42" Type="http://schemas.openxmlformats.org/officeDocument/2006/relationships/font" Target="fonts/Roboto-boldItalic.fntdata"/><Relationship Id="rId41" Type="http://schemas.openxmlformats.org/officeDocument/2006/relationships/font" Target="fonts/Roboto-italic.fntdata"/><Relationship Id="rId22" Type="http://schemas.openxmlformats.org/officeDocument/2006/relationships/slide" Target="slides/slide17.xml"/><Relationship Id="rId44" Type="http://schemas.openxmlformats.org/officeDocument/2006/relationships/font" Target="fonts/PlayfairDisplay-bold.fntdata"/><Relationship Id="rId21" Type="http://schemas.openxmlformats.org/officeDocument/2006/relationships/slide" Target="slides/slide16.xml"/><Relationship Id="rId43" Type="http://schemas.openxmlformats.org/officeDocument/2006/relationships/font" Target="fonts/PlayfairDisplay-regular.fntdata"/><Relationship Id="rId24" Type="http://schemas.openxmlformats.org/officeDocument/2006/relationships/slide" Target="slides/slide19.xml"/><Relationship Id="rId46" Type="http://schemas.openxmlformats.org/officeDocument/2006/relationships/font" Target="fonts/PlayfairDisplay-boldItalic.fntdata"/><Relationship Id="rId23" Type="http://schemas.openxmlformats.org/officeDocument/2006/relationships/slide" Target="slides/slide18.xml"/><Relationship Id="rId45" Type="http://schemas.openxmlformats.org/officeDocument/2006/relationships/font" Target="fonts/PlayfairDisplay-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Roboto-regular.fntdata"/><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1" name="Shape 81"/>
        <p:cNvGrpSpPr/>
        <p:nvPr/>
      </p:nvGrpSpPr>
      <p:grpSpPr>
        <a:xfrm>
          <a:off x="0" y="0"/>
          <a:ext cx="0" cy="0"/>
          <a:chOff x="0" y="0"/>
          <a:chExt cx="0" cy="0"/>
        </a:xfrm>
      </p:grpSpPr>
      <p:sp>
        <p:nvSpPr>
          <p:cNvPr id="82" name="Google Shape;82;gc6f9e470d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c6f9e47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project covered the growth impacts of COVID-19 and looked at various elements that have impacted it recent surge throughout the United States and specifically the midwest.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8" name="Shape 88"/>
        <p:cNvGrpSpPr/>
        <p:nvPr/>
      </p:nvGrpSpPr>
      <p:grpSpPr>
        <a:xfrm>
          <a:off x="0" y="0"/>
          <a:ext cx="0" cy="0"/>
          <a:chOff x="0" y="0"/>
          <a:chExt cx="0" cy="0"/>
        </a:xfrm>
      </p:grpSpPr>
      <p:sp>
        <p:nvSpPr>
          <p:cNvPr id="89" name="Google Shape;89;gc6f9e470d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c6f9e470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Today we will cover three aspects of our research, our findings, the methods we used, and the conclusion we made.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8" name="Shape 108"/>
        <p:cNvGrpSpPr/>
        <p:nvPr/>
      </p:nvGrpSpPr>
      <p:grpSpPr>
        <a:xfrm>
          <a:off x="0" y="0"/>
          <a:ext cx="0" cy="0"/>
          <a:chOff x="0" y="0"/>
          <a:chExt cx="0" cy="0"/>
        </a:xfrm>
      </p:grpSpPr>
      <p:sp>
        <p:nvSpPr>
          <p:cNvPr id="109" name="Google Shape;109;g7805307fae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7805307fae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are the findings and what we found.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4" name="Shape 114"/>
        <p:cNvGrpSpPr/>
        <p:nvPr/>
      </p:nvGrpSpPr>
      <p:grpSpPr>
        <a:xfrm>
          <a:off x="0" y="0"/>
          <a:ext cx="0" cy="0"/>
          <a:chOff x="0" y="0"/>
          <a:chExt cx="0" cy="0"/>
        </a:xfrm>
      </p:grpSpPr>
      <p:sp>
        <p:nvSpPr>
          <p:cNvPr id="115" name="Google Shape;115;g7805307fa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7805307fa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1" name="Shape 121"/>
        <p:cNvGrpSpPr/>
        <p:nvPr/>
      </p:nvGrpSpPr>
      <p:grpSpPr>
        <a:xfrm>
          <a:off x="0" y="0"/>
          <a:ext cx="0" cy="0"/>
          <a:chOff x="0" y="0"/>
          <a:chExt cx="0" cy="0"/>
        </a:xfrm>
      </p:grpSpPr>
      <p:sp>
        <p:nvSpPr>
          <p:cNvPr id="122" name="Google Shape;122;g783e271630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783e271630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graph represents each day from March 1st - April 24th with the temperature for each day. The graph shows the low and high for each day and where the temperature starts when the line crosses over. The temperature has been very consistent throughout the two months we based it off of.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7" name="Shape 127"/>
        <p:cNvGrpSpPr/>
        <p:nvPr/>
      </p:nvGrpSpPr>
      <p:grpSpPr>
        <a:xfrm>
          <a:off x="0" y="0"/>
          <a:ext cx="0" cy="0"/>
          <a:chOff x="0" y="0"/>
          <a:chExt cx="0" cy="0"/>
        </a:xfrm>
      </p:grpSpPr>
      <p:sp>
        <p:nvSpPr>
          <p:cNvPr id="128" name="Google Shape;128;g783e27163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783e27163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graph is representing the amount of confirmed cases starting in March all the way up to date. It really starts to show growth at the start of April and the slope continues to go up into May. It is starting to slow down though towards current day with the </a:t>
            </a:r>
            <a:r>
              <a:rPr lang="en"/>
              <a:t>precautions</a:t>
            </a:r>
            <a:r>
              <a:rPr lang="en"/>
              <a:t> that were taken.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2" name="Shape 132"/>
        <p:cNvGrpSpPr/>
        <p:nvPr/>
      </p:nvGrpSpPr>
      <p:grpSpPr>
        <a:xfrm>
          <a:off x="0" y="0"/>
          <a:ext cx="0" cy="0"/>
          <a:chOff x="0" y="0"/>
          <a:chExt cx="0" cy="0"/>
        </a:xfrm>
      </p:grpSpPr>
      <p:sp>
        <p:nvSpPr>
          <p:cNvPr id="133" name="Google Shape;133;g783e271630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783e271630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are the two graphs side by side with how the temperature could relate to the increase in cases. They </a:t>
            </a:r>
            <a:r>
              <a:rPr lang="en"/>
              <a:t>correlate</a:t>
            </a:r>
            <a:r>
              <a:rPr lang="en"/>
              <a:t> by it starts to get warming and the cases continue to go up, but they are starting to round off as well.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9" name="Shape 139"/>
        <p:cNvGrpSpPr/>
        <p:nvPr/>
      </p:nvGrpSpPr>
      <p:grpSpPr>
        <a:xfrm>
          <a:off x="0" y="0"/>
          <a:ext cx="0" cy="0"/>
          <a:chOff x="0" y="0"/>
          <a:chExt cx="0" cy="0"/>
        </a:xfrm>
      </p:grpSpPr>
      <p:sp>
        <p:nvSpPr>
          <p:cNvPr id="140" name="Google Shape;140;g7805307fa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7805307fa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6" name="Shape 146"/>
        <p:cNvGrpSpPr/>
        <p:nvPr/>
      </p:nvGrpSpPr>
      <p:grpSpPr>
        <a:xfrm>
          <a:off x="0" y="0"/>
          <a:ext cx="0" cy="0"/>
          <a:chOff x="0" y="0"/>
          <a:chExt cx="0" cy="0"/>
        </a:xfrm>
      </p:grpSpPr>
      <p:sp>
        <p:nvSpPr>
          <p:cNvPr id="147" name="Google Shape;147;g655d56773080d518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655d56773080d518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we have the confirmed cases within Iowa by county on April 1. The size of each bubble represents the number of cases for that particular county.</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2" name="Shape 152"/>
        <p:cNvGrpSpPr/>
        <p:nvPr/>
      </p:nvGrpSpPr>
      <p:grpSpPr>
        <a:xfrm>
          <a:off x="0" y="0"/>
          <a:ext cx="0" cy="0"/>
          <a:chOff x="0" y="0"/>
          <a:chExt cx="0" cy="0"/>
        </a:xfrm>
      </p:grpSpPr>
      <p:sp>
        <p:nvSpPr>
          <p:cNvPr id="153" name="Google Shape;153;g655d56773080d518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655d56773080d518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Iowa did not see many confirmed cases until April, and this is where it started to have an exponential spread. Mid April saw double the amount of cases in comparison to the first of the month.</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8" name="Shape 158"/>
        <p:cNvGrpSpPr/>
        <p:nvPr/>
      </p:nvGrpSpPr>
      <p:grpSpPr>
        <a:xfrm>
          <a:off x="0" y="0"/>
          <a:ext cx="0" cy="0"/>
          <a:chOff x="0" y="0"/>
          <a:chExt cx="0" cy="0"/>
        </a:xfrm>
      </p:grpSpPr>
      <p:sp>
        <p:nvSpPr>
          <p:cNvPr id="159" name="Google Shape;159;g655d56773080d518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655d56773080d518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beginning of may saw even more growth, and this trend has continued through the midway point of the month as well. The counties with bigger towns saw the most amount of cases.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4" name="Shape 164"/>
        <p:cNvGrpSpPr/>
        <p:nvPr/>
      </p:nvGrpSpPr>
      <p:grpSpPr>
        <a:xfrm>
          <a:off x="0" y="0"/>
          <a:ext cx="0" cy="0"/>
          <a:chOff x="0" y="0"/>
          <a:chExt cx="0" cy="0"/>
        </a:xfrm>
      </p:grpSpPr>
      <p:sp>
        <p:nvSpPr>
          <p:cNvPr id="165" name="Google Shape;165;g7805307fae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7805307fae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simply answer, yes people are dying, and they are dying at a higher rate than we might have expected or even want. This chart shows the death rate over time for the United States as a whole, the Midwest, and for Iowa.The United States as a whole saw a very large death rate early on as we were not prepared like most other </a:t>
            </a:r>
            <a:r>
              <a:rPr lang="en"/>
              <a:t>countries</a:t>
            </a:r>
            <a:r>
              <a:rPr lang="en"/>
              <a:t>. As time went on, we gained a greater control, but the death rate has continued to rise as a result of growing cases. Not many countries are </a:t>
            </a:r>
            <a:r>
              <a:rPr lang="en"/>
              <a:t>equipped</a:t>
            </a:r>
            <a:r>
              <a:rPr lang="en"/>
              <a:t> to handle an outbreak of this size, and it is starting to show with the rising death rates, </a:t>
            </a:r>
            <a:r>
              <a:rPr lang="en"/>
              <a:t>especially</a:t>
            </a:r>
            <a:r>
              <a:rPr lang="en"/>
              <a:t> within the United States.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0" name="Shape 170"/>
        <p:cNvGrpSpPr/>
        <p:nvPr/>
      </p:nvGrpSpPr>
      <p:grpSpPr>
        <a:xfrm>
          <a:off x="0" y="0"/>
          <a:ext cx="0" cy="0"/>
          <a:chOff x="0" y="0"/>
          <a:chExt cx="0" cy="0"/>
        </a:xfrm>
      </p:grpSpPr>
      <p:sp>
        <p:nvSpPr>
          <p:cNvPr id="171" name="Google Shape;171;g7805307fae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7805307fae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chart shows that within Iowa, people are dying, and they are dying at an exponential rate.The big problem with COVID-19 and why </a:t>
            </a:r>
            <a:r>
              <a:rPr lang="en"/>
              <a:t>it's</a:t>
            </a:r>
            <a:r>
              <a:rPr lang="en"/>
              <a:t> so deadly is because there is a great series interval (of an average of 5 days) from when a person contracts the virus and starts to show symptoms. This has made the rate of infection so high because people feel fine, but instead they are passing the disease on to others before they even know it. More people being infected means more people dying. However, we can prepare for these grand numbers of infections by predicting how many people might have the disease at a certain time based on the amount of deaths in that area. This way, measures can be taken ahead of time before it is too late.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5" name="Shape 175"/>
        <p:cNvGrpSpPr/>
        <p:nvPr/>
      </p:nvGrpSpPr>
      <p:grpSpPr>
        <a:xfrm>
          <a:off x="0" y="0"/>
          <a:ext cx="0" cy="0"/>
          <a:chOff x="0" y="0"/>
          <a:chExt cx="0" cy="0"/>
        </a:xfrm>
      </p:grpSpPr>
      <p:sp>
        <p:nvSpPr>
          <p:cNvPr id="176" name="Google Shape;176;g7805307fae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7805307fae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a method which I will go into greater detail on later, we were able to show a comparison of the amount of current </a:t>
            </a:r>
            <a:r>
              <a:rPr lang="en"/>
              <a:t>confirmed</a:t>
            </a:r>
            <a:r>
              <a:rPr lang="en"/>
              <a:t> cases in Iowa and how many cases we predict there to actually be. The bottom right hand chart shows a logarithmic scale for this who are interested in looking for ‘the flat line turn’ as they say. We can see that cases are shooting up exponentially and as of May 1st, we predicted there could be roughly 87,000 people with the disease in comparison to the less than 10,000 who actually tested positive for it. This is quite alarming and really should be used to emphasize the importance of social distancing and always being careful when coming in contact with others.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3" name="Shape 183"/>
        <p:cNvGrpSpPr/>
        <p:nvPr/>
      </p:nvGrpSpPr>
      <p:grpSpPr>
        <a:xfrm>
          <a:off x="0" y="0"/>
          <a:ext cx="0" cy="0"/>
          <a:chOff x="0" y="0"/>
          <a:chExt cx="0" cy="0"/>
        </a:xfrm>
      </p:grpSpPr>
      <p:sp>
        <p:nvSpPr>
          <p:cNvPr id="184" name="Google Shape;184;g7805307fa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7805307fa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0" name="Shape 220"/>
        <p:cNvGrpSpPr/>
        <p:nvPr/>
      </p:nvGrpSpPr>
      <p:grpSpPr>
        <a:xfrm>
          <a:off x="0" y="0"/>
          <a:ext cx="0" cy="0"/>
          <a:chOff x="0" y="0"/>
          <a:chExt cx="0" cy="0"/>
        </a:xfrm>
      </p:grpSpPr>
      <p:sp>
        <p:nvSpPr>
          <p:cNvPr id="221" name="Google Shape;221;g655d56773080d51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655d56773080d51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we have the number of confirmed cases over the entire United States on February 1st. There are a few locations (which I circled) across the U.S. that stood out a little more compared to the others which we assume were more dense, highly populated areas which lead to more confirmed cases at this period of time.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3" name="Shape 233"/>
        <p:cNvGrpSpPr/>
        <p:nvPr/>
      </p:nvGrpSpPr>
      <p:grpSpPr>
        <a:xfrm>
          <a:off x="0" y="0"/>
          <a:ext cx="0" cy="0"/>
          <a:chOff x="0" y="0"/>
          <a:chExt cx="0" cy="0"/>
        </a:xfrm>
      </p:grpSpPr>
      <p:sp>
        <p:nvSpPr>
          <p:cNvPr id="234" name="Google Shape;234;g655d56773080d518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655d56773080d518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we have the number of confirmed cases in the United States on March 1st. As you can see, a few location I had circled seemed to have grown in size over the last month. A few larger dots appeared in California and the one in Utah grew in size. It doesn’t seem like many other places had too significant of an increase from February to March.</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2" name="Shape 242"/>
        <p:cNvGrpSpPr/>
        <p:nvPr/>
      </p:nvGrpSpPr>
      <p:grpSpPr>
        <a:xfrm>
          <a:off x="0" y="0"/>
          <a:ext cx="0" cy="0"/>
          <a:chOff x="0" y="0"/>
          <a:chExt cx="0" cy="0"/>
        </a:xfrm>
      </p:grpSpPr>
      <p:sp>
        <p:nvSpPr>
          <p:cNvPr id="243" name="Google Shape;243;g655d56773080d518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655d56773080d518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April is really where things started to blow up. As you can see in the Midwestern and Eastern states there was a </a:t>
            </a:r>
            <a:r>
              <a:rPr lang="en"/>
              <a:t>substantial</a:t>
            </a:r>
            <a:r>
              <a:rPr lang="en"/>
              <a:t> increase in the number of confirmed cases, especially in the New Jersey/New York area. California seemed to have a bit of an increase as well, but </a:t>
            </a:r>
            <a:r>
              <a:rPr lang="en"/>
              <a:t>comparatively it was not as large. </a:t>
            </a:r>
            <a:r>
              <a:rPr lang="en"/>
              <a:t>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8" name="Shape 248"/>
        <p:cNvGrpSpPr/>
        <p:nvPr/>
      </p:nvGrpSpPr>
      <p:grpSpPr>
        <a:xfrm>
          <a:off x="0" y="0"/>
          <a:ext cx="0" cy="0"/>
          <a:chOff x="0" y="0"/>
          <a:chExt cx="0" cy="0"/>
        </a:xfrm>
      </p:grpSpPr>
      <p:sp>
        <p:nvSpPr>
          <p:cNvPr id="249" name="Google Shape;249;g655d56773080d518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655d56773080d518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map we can see that in the month of May the United States got hit HARD. Our Midwestern and Eastern states now </a:t>
            </a:r>
            <a:r>
              <a:rPr lang="en"/>
              <a:t>devastated</a:t>
            </a:r>
            <a:r>
              <a:rPr lang="en"/>
              <a:t> by COVID and a plethora of confirmed cases in the the matter of a month. When looking at the time frame (February-May) we can see just how fast this virus can spread, especially when narrowing on the last two months. Many other states that were not impacted as hard in the early months, Texas, Nebraska, Colorado, are now seeing pretty large increases as well. Luckily for a few states, Montana, North Dakota, Nevada, they didn’t seem to be impacted too heavily </a:t>
            </a:r>
            <a:r>
              <a:rPr lang="en"/>
              <a:t>whatsoever, which leaves us with many possible questions as to why that is and also raises questions as to what factors played a part in the states that are being decimated by the virus.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4" name="Shape 254"/>
        <p:cNvGrpSpPr/>
        <p:nvPr/>
      </p:nvGrpSpPr>
      <p:grpSpPr>
        <a:xfrm>
          <a:off x="0" y="0"/>
          <a:ext cx="0" cy="0"/>
          <a:chOff x="0" y="0"/>
          <a:chExt cx="0" cy="0"/>
        </a:xfrm>
      </p:grpSpPr>
      <p:sp>
        <p:nvSpPr>
          <p:cNvPr id="255" name="Google Shape;255;g655d56773080d518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655d56773080d518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just a simple line graph to represent the rate of infection in the state of Iowa over a certain time period (January 22nd - May 1st). The R0 value is essentially a representation of how many other people, will someone who is infected, also infect.  With the Y-axis being the infection rate and the X-axis being our dates over the time period, we can see that there was an incredible spike right around March 25th. From then to the month of May we see the R0 value fluctuating up and down; we can likely assume </a:t>
            </a:r>
            <a:r>
              <a:rPr lang="en"/>
              <a:t>that these decreases can be credited the social distancing orders that have been put in place, however, it seems like towards to the end of April into the beginning of May we see a constant increase in the rate of infection.</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9" name="Shape 259"/>
        <p:cNvGrpSpPr/>
        <p:nvPr/>
      </p:nvGrpSpPr>
      <p:grpSpPr>
        <a:xfrm>
          <a:off x="0" y="0"/>
          <a:ext cx="0" cy="0"/>
          <a:chOff x="0" y="0"/>
          <a:chExt cx="0" cy="0"/>
        </a:xfrm>
      </p:grpSpPr>
      <p:sp>
        <p:nvSpPr>
          <p:cNvPr id="260" name="Google Shape;260;g7805307fae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7805307fae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are the methods that we used for analyzing the data and creating visuals.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5" name="Shape 265"/>
        <p:cNvGrpSpPr/>
        <p:nvPr/>
      </p:nvGrpSpPr>
      <p:grpSpPr>
        <a:xfrm>
          <a:off x="0" y="0"/>
          <a:ext cx="0" cy="0"/>
          <a:chOff x="0" y="0"/>
          <a:chExt cx="0" cy="0"/>
        </a:xfrm>
      </p:grpSpPr>
      <p:sp>
        <p:nvSpPr>
          <p:cNvPr id="266" name="Google Shape;266;g7805307fa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7805307fa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the case predictions, all of the data was sourced from John Hopkins University, </a:t>
            </a:r>
            <a:r>
              <a:rPr lang="en"/>
              <a:t>specifically</a:t>
            </a:r>
            <a:r>
              <a:rPr lang="en"/>
              <a:t> their github repository. Below is a table of totals that I </a:t>
            </a:r>
            <a:r>
              <a:rPr lang="en"/>
              <a:t>made</a:t>
            </a:r>
            <a:r>
              <a:rPr lang="en"/>
              <a:t> for each day of data that I was able to use to make the case predictions. The process here was to look at how many days on average it took before a person died when contracting the disease, and how many people could have been exposed during this time frame. The ratios at the top are the death ratios for the midwest and Iowa. The day 1 infected shows how many people could have been infected at the same time as the one </a:t>
            </a:r>
            <a:r>
              <a:rPr lang="en"/>
              <a:t>person's</a:t>
            </a:r>
            <a:r>
              <a:rPr lang="en"/>
              <a:t> death based on the death ratio. First day infected simply multiplies the day 1 infected by the number of deaths that occured on that day. Looking at the data, you can use 14 day intervals to compute the R0 value, or rate of infection. I then took this and graphed it to see if there was a linear trend, which there was. I then used this to predict the R0 value for the previous 13 days before May 1st and ultimately make a more accurate prediction of COVID-19 cases (highlighted in yellow bottom right). The number is ultimately calculated using the rate of infection information and how many people might have had it on the first day, and using the 14 day interval from infection to death to </a:t>
            </a:r>
            <a:r>
              <a:rPr lang="en"/>
              <a:t>simulate</a:t>
            </a:r>
            <a:r>
              <a:rPr lang="en"/>
              <a:t> </a:t>
            </a:r>
            <a:r>
              <a:rPr lang="en"/>
              <a:t>growth</a:t>
            </a:r>
            <a:r>
              <a:rPr lang="en"/>
              <a:t>.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3" name="Shape 273"/>
        <p:cNvGrpSpPr/>
        <p:nvPr/>
      </p:nvGrpSpPr>
      <p:grpSpPr>
        <a:xfrm>
          <a:off x="0" y="0"/>
          <a:ext cx="0" cy="0"/>
          <a:chOff x="0" y="0"/>
          <a:chExt cx="0" cy="0"/>
        </a:xfrm>
      </p:grpSpPr>
      <p:sp>
        <p:nvSpPr>
          <p:cNvPr id="274" name="Google Shape;274;g85555fe5d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85555fe5d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what the raw data looked like when opening the .csv file from John Hopkins. There wasn’t much </a:t>
            </a:r>
            <a:r>
              <a:rPr lang="en"/>
              <a:t>cleansing</a:t>
            </a:r>
            <a:r>
              <a:rPr lang="en"/>
              <a:t> that had to be done, but data was pulled from the master for more analysis as seen on the previous slide.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8" name="Shape 278"/>
        <p:cNvGrpSpPr/>
        <p:nvPr/>
      </p:nvGrpSpPr>
      <p:grpSpPr>
        <a:xfrm>
          <a:off x="0" y="0"/>
          <a:ext cx="0" cy="0"/>
          <a:chOff x="0" y="0"/>
          <a:chExt cx="0" cy="0"/>
        </a:xfrm>
      </p:grpSpPr>
      <p:sp>
        <p:nvSpPr>
          <p:cNvPr id="279" name="Google Shape;279;g85555fe5db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85555fe5db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is </a:t>
            </a:r>
            <a:r>
              <a:rPr lang="en"/>
              <a:t>what</a:t>
            </a:r>
            <a:r>
              <a:rPr lang="en"/>
              <a:t> some of the data looked like </a:t>
            </a:r>
            <a:r>
              <a:rPr lang="en"/>
              <a:t>cleaned</a:t>
            </a:r>
            <a:r>
              <a:rPr lang="en"/>
              <a:t> up with a combination of the midwestern states that I compiled.</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3" name="Shape 283"/>
        <p:cNvGrpSpPr/>
        <p:nvPr/>
      </p:nvGrpSpPr>
      <p:grpSpPr>
        <a:xfrm>
          <a:off x="0" y="0"/>
          <a:ext cx="0" cy="0"/>
          <a:chOff x="0" y="0"/>
          <a:chExt cx="0" cy="0"/>
        </a:xfrm>
      </p:grpSpPr>
      <p:sp>
        <p:nvSpPr>
          <p:cNvPr id="284" name="Google Shape;284;g7805307fae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7805307fae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linear trend that was used during the rate of infection prediction. I used excel to do this analysis.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8" name="Shape 288"/>
        <p:cNvGrpSpPr/>
        <p:nvPr/>
      </p:nvGrpSpPr>
      <p:grpSpPr>
        <a:xfrm>
          <a:off x="0" y="0"/>
          <a:ext cx="0" cy="0"/>
          <a:chOff x="0" y="0"/>
          <a:chExt cx="0" cy="0"/>
        </a:xfrm>
      </p:grpSpPr>
      <p:sp>
        <p:nvSpPr>
          <p:cNvPr id="289" name="Google Shape;289;g85555fe5db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85555fe5db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what the data looked like in Tableau, which was used to create the map visuals. The variables along the top were adjusted to be used for various purposes, geographical, numerical, etc. This made it easy for creating the visual in </a:t>
            </a:r>
            <a:r>
              <a:rPr lang="en"/>
              <a:t>tableau</a:t>
            </a:r>
            <a:r>
              <a:rPr lang="en"/>
              <a:t> with the drag and drop features.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5" name="Shape 295"/>
        <p:cNvGrpSpPr/>
        <p:nvPr/>
      </p:nvGrpSpPr>
      <p:grpSpPr>
        <a:xfrm>
          <a:off x="0" y="0"/>
          <a:ext cx="0" cy="0"/>
          <a:chOff x="0" y="0"/>
          <a:chExt cx="0" cy="0"/>
        </a:xfrm>
      </p:grpSpPr>
      <p:sp>
        <p:nvSpPr>
          <p:cNvPr id="296" name="Google Shape;296;g85555fe5db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85555fe5db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 was used to pull in the weather data from Dark Sky. From here it was formatted as a data table and exported to a .csv file. This is a snapshot of some of the code from the R script.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0" name="Shape 300"/>
        <p:cNvGrpSpPr/>
        <p:nvPr/>
      </p:nvGrpSpPr>
      <p:grpSpPr>
        <a:xfrm>
          <a:off x="0" y="0"/>
          <a:ext cx="0" cy="0"/>
          <a:chOff x="0" y="0"/>
          <a:chExt cx="0" cy="0"/>
        </a:xfrm>
      </p:grpSpPr>
      <p:sp>
        <p:nvSpPr>
          <p:cNvPr id="301" name="Google Shape;301;gc6f9e470d_0_12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c6f9e470d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6" name="Shape 306"/>
        <p:cNvGrpSpPr/>
        <p:nvPr/>
      </p:nvGrpSpPr>
      <p:grpSpPr>
        <a:xfrm>
          <a:off x="0" y="0"/>
          <a:ext cx="0" cy="0"/>
          <a:chOff x="0" y="0"/>
          <a:chExt cx="0" cy="0"/>
        </a:xfrm>
      </p:grpSpPr>
      <p:sp>
        <p:nvSpPr>
          <p:cNvPr id="307" name="Google Shape;307;g783682f21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783682f21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3" name="Shape 313"/>
        <p:cNvGrpSpPr/>
        <p:nvPr/>
      </p:nvGrpSpPr>
      <p:grpSpPr>
        <a:xfrm>
          <a:off x="0" y="0"/>
          <a:ext cx="0" cy="0"/>
          <a:chOff x="0" y="0"/>
          <a:chExt cx="0" cy="0"/>
        </a:xfrm>
      </p:grpSpPr>
      <p:sp>
        <p:nvSpPr>
          <p:cNvPr id="314" name="Google Shape;314;g85555fe5db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85555fe5db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0" name="Shape 320"/>
        <p:cNvGrpSpPr/>
        <p:nvPr/>
      </p:nvGrpSpPr>
      <p:grpSpPr>
        <a:xfrm>
          <a:off x="0" y="0"/>
          <a:ext cx="0" cy="0"/>
          <a:chOff x="0" y="0"/>
          <a:chExt cx="0" cy="0"/>
        </a:xfrm>
      </p:grpSpPr>
      <p:sp>
        <p:nvSpPr>
          <p:cNvPr id="321" name="Google Shape;321;g783682f21d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783682f21d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7" name="Shape 327"/>
        <p:cNvGrpSpPr/>
        <p:nvPr/>
      </p:nvGrpSpPr>
      <p:grpSpPr>
        <a:xfrm>
          <a:off x="0" y="0"/>
          <a:ext cx="0" cy="0"/>
          <a:chOff x="0" y="0"/>
          <a:chExt cx="0" cy="0"/>
        </a:xfrm>
      </p:grpSpPr>
      <p:sp>
        <p:nvSpPr>
          <p:cNvPr id="328" name="Google Shape;328;g85555fe5db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85555fe5db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slide we would have used to allow for questions.</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32" name="Shape 332"/>
        <p:cNvGrpSpPr/>
        <p:nvPr/>
      </p:nvGrpSpPr>
      <p:grpSpPr>
        <a:xfrm>
          <a:off x="0" y="0"/>
          <a:ext cx="0" cy="0"/>
          <a:chOff x="0" y="0"/>
          <a:chExt cx="0" cy="0"/>
        </a:xfrm>
      </p:grpSpPr>
      <p:sp>
        <p:nvSpPr>
          <p:cNvPr id="333" name="Google Shape;333;g85555fe5db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85555fe5db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1600"/>
              </a:spcBef>
              <a:spcAft>
                <a:spcPts val="0"/>
              </a:spcAft>
              <a:buClr>
                <a:schemeClr val="lt1"/>
              </a:buClr>
              <a:buSzPts val="1400"/>
              <a:buChar char="○"/>
              <a:defRPr>
                <a:solidFill>
                  <a:schemeClr val="lt1"/>
                </a:solidFill>
              </a:defRPr>
            </a:lvl2pPr>
            <a:lvl3pPr indent="-317500" lvl="2" marL="1371600" algn="ctr">
              <a:spcBef>
                <a:spcPts val="1600"/>
              </a:spcBef>
              <a:spcAft>
                <a:spcPts val="0"/>
              </a:spcAft>
              <a:buClr>
                <a:schemeClr val="lt1"/>
              </a:buClr>
              <a:buSzPts val="1400"/>
              <a:buChar char="■"/>
              <a:defRPr>
                <a:solidFill>
                  <a:schemeClr val="lt1"/>
                </a:solidFill>
              </a:defRPr>
            </a:lvl3pPr>
            <a:lvl4pPr indent="-317500" lvl="3" marL="1828800" algn="ctr">
              <a:spcBef>
                <a:spcPts val="1600"/>
              </a:spcBef>
              <a:spcAft>
                <a:spcPts val="0"/>
              </a:spcAft>
              <a:buClr>
                <a:schemeClr val="lt1"/>
              </a:buClr>
              <a:buSzPts val="1400"/>
              <a:buChar char="●"/>
              <a:defRPr>
                <a:solidFill>
                  <a:schemeClr val="lt1"/>
                </a:solidFill>
              </a:defRPr>
            </a:lvl4pPr>
            <a:lvl5pPr indent="-317500" lvl="4" marL="2286000" algn="ctr">
              <a:spcBef>
                <a:spcPts val="1600"/>
              </a:spcBef>
              <a:spcAft>
                <a:spcPts val="0"/>
              </a:spcAft>
              <a:buClr>
                <a:schemeClr val="lt1"/>
              </a:buClr>
              <a:buSzPts val="1400"/>
              <a:buChar char="○"/>
              <a:defRPr>
                <a:solidFill>
                  <a:schemeClr val="lt1"/>
                </a:solidFill>
              </a:defRPr>
            </a:lvl5pPr>
            <a:lvl6pPr indent="-317500" lvl="5" marL="2743200" algn="ctr">
              <a:spcBef>
                <a:spcPts val="1600"/>
              </a:spcBef>
              <a:spcAft>
                <a:spcPts val="0"/>
              </a:spcAft>
              <a:buClr>
                <a:schemeClr val="lt1"/>
              </a:buClr>
              <a:buSzPts val="1400"/>
              <a:buChar char="■"/>
              <a:defRPr>
                <a:solidFill>
                  <a:schemeClr val="lt1"/>
                </a:solidFill>
              </a:defRPr>
            </a:lvl6pPr>
            <a:lvl7pPr indent="-317500" lvl="6" marL="3200400" algn="ctr">
              <a:spcBef>
                <a:spcPts val="1600"/>
              </a:spcBef>
              <a:spcAft>
                <a:spcPts val="0"/>
              </a:spcAft>
              <a:buClr>
                <a:schemeClr val="lt1"/>
              </a:buClr>
              <a:buSzPts val="1400"/>
              <a:buChar char="●"/>
              <a:defRPr>
                <a:solidFill>
                  <a:schemeClr val="lt1"/>
                </a:solidFill>
              </a:defRPr>
            </a:lvl7pPr>
            <a:lvl8pPr indent="-317500" lvl="7" marL="3657600" algn="ctr">
              <a:spcBef>
                <a:spcPts val="1600"/>
              </a:spcBef>
              <a:spcAft>
                <a:spcPts val="0"/>
              </a:spcAft>
              <a:buClr>
                <a:schemeClr val="lt1"/>
              </a:buClr>
              <a:buSzPts val="1400"/>
              <a:buChar char="○"/>
              <a:defRPr>
                <a:solidFill>
                  <a:schemeClr val="lt1"/>
                </a:solidFill>
              </a:defRPr>
            </a:lvl8pPr>
            <a:lvl9pPr indent="-317500" lvl="8" marL="4114800" algn="ctr">
              <a:spcBef>
                <a:spcPts val="1600"/>
              </a:spcBef>
              <a:spcAft>
                <a:spcPts val="160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23.png"/><Relationship Id="rId4" Type="http://schemas.openxmlformats.org/officeDocument/2006/relationships/image" Target="../media/image22.png"/><Relationship Id="rId5"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 Id="rId3"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4" name="Shape 84"/>
        <p:cNvGrpSpPr/>
        <p:nvPr/>
      </p:nvGrpSpPr>
      <p:grpSpPr>
        <a:xfrm>
          <a:off x="0" y="0"/>
          <a:ext cx="0" cy="0"/>
          <a:chOff x="0" y="0"/>
          <a:chExt cx="0" cy="0"/>
        </a:xfrm>
      </p:grpSpPr>
      <p:sp>
        <p:nvSpPr>
          <p:cNvPr id="85" name="Google Shape;85;p13"/>
          <p:cNvSpPr txBox="1"/>
          <p:nvPr>
            <p:ph type="ctrTitle"/>
          </p:nvPr>
        </p:nvSpPr>
        <p:spPr>
          <a:xfrm>
            <a:off x="460950" y="1877122"/>
            <a:ext cx="8222100" cy="838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800"/>
              <a:t>COVID-19 Growth Impacts</a:t>
            </a:r>
            <a:endParaRPr sz="4800"/>
          </a:p>
        </p:txBody>
      </p:sp>
      <p:sp>
        <p:nvSpPr>
          <p:cNvPr id="86" name="Google Shape;86;p13"/>
          <p:cNvSpPr txBox="1"/>
          <p:nvPr>
            <p:ph idx="1" type="subTitle"/>
          </p:nvPr>
        </p:nvSpPr>
        <p:spPr>
          <a:xfrm>
            <a:off x="598088" y="2715913"/>
            <a:ext cx="8222100" cy="43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look at the growth trends of SARS-CoV-2</a:t>
            </a:r>
            <a:endParaRPr/>
          </a:p>
        </p:txBody>
      </p:sp>
      <p:sp>
        <p:nvSpPr>
          <p:cNvPr id="87" name="Google Shape;87;p13"/>
          <p:cNvSpPr txBox="1"/>
          <p:nvPr>
            <p:ph idx="1" type="subTitle"/>
          </p:nvPr>
        </p:nvSpPr>
        <p:spPr>
          <a:xfrm>
            <a:off x="1163088" y="3148813"/>
            <a:ext cx="8222100" cy="43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t>Alex Rhomberg, Tyler Alfirevic, Quinn Mettert, Erik Edminster </a:t>
            </a:r>
            <a:endParaRPr sz="1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1" name="Shape 91"/>
        <p:cNvGrpSpPr/>
        <p:nvPr/>
      </p:nvGrpSpPr>
      <p:grpSpPr>
        <a:xfrm>
          <a:off x="0" y="0"/>
          <a:ext cx="0" cy="0"/>
          <a:chOff x="0" y="0"/>
          <a:chExt cx="0" cy="0"/>
        </a:xfrm>
      </p:grpSpPr>
      <p:sp>
        <p:nvSpPr>
          <p:cNvPr id="92" name="Google Shape;92;p1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grpSp>
        <p:nvGrpSpPr>
          <p:cNvPr id="93" name="Google Shape;93;p14"/>
          <p:cNvGrpSpPr/>
          <p:nvPr/>
        </p:nvGrpSpPr>
        <p:grpSpPr>
          <a:xfrm>
            <a:off x="431925" y="1304875"/>
            <a:ext cx="2628925" cy="3416400"/>
            <a:chOff x="431925" y="1304875"/>
            <a:chExt cx="2628925" cy="3416400"/>
          </a:xfrm>
        </p:grpSpPr>
        <p:sp>
          <p:nvSpPr>
            <p:cNvPr id="94" name="Google Shape;94;p14"/>
            <p:cNvSpPr txBox="1"/>
            <p:nvPr/>
          </p:nvSpPr>
          <p:spPr>
            <a:xfrm>
              <a:off x="431925" y="1304875"/>
              <a:ext cx="2628900" cy="46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4"/>
            <p:cNvSpPr/>
            <p:nvPr/>
          </p:nvSpPr>
          <p:spPr>
            <a:xfrm>
              <a:off x="43195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 name="Google Shape;96;p14"/>
          <p:cNvSpPr txBox="1"/>
          <p:nvPr>
            <p:ph idx="4294967295" type="body"/>
          </p:nvPr>
        </p:nvSpPr>
        <p:spPr>
          <a:xfrm>
            <a:off x="506425" y="1304875"/>
            <a:ext cx="2494500" cy="46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Our Findings</a:t>
            </a:r>
            <a:endParaRPr>
              <a:solidFill>
                <a:schemeClr val="lt1"/>
              </a:solidFill>
            </a:endParaRPr>
          </a:p>
        </p:txBody>
      </p:sp>
      <p:sp>
        <p:nvSpPr>
          <p:cNvPr id="97" name="Google Shape;97;p14"/>
          <p:cNvSpPr txBox="1"/>
          <p:nvPr>
            <p:ph idx="4294967295" type="body"/>
          </p:nvPr>
        </p:nvSpPr>
        <p:spPr>
          <a:xfrm>
            <a:off x="508325" y="1850300"/>
            <a:ext cx="2478600" cy="279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Weather</a:t>
            </a:r>
            <a:endParaRPr sz="1600"/>
          </a:p>
          <a:p>
            <a:pPr indent="0" lvl="0" marL="0" rtl="0" algn="l">
              <a:spcBef>
                <a:spcPts val="1600"/>
              </a:spcBef>
              <a:spcAft>
                <a:spcPts val="0"/>
              </a:spcAft>
              <a:buNone/>
            </a:pPr>
            <a:r>
              <a:rPr lang="en" sz="1600"/>
              <a:t>Expected Cases</a:t>
            </a:r>
            <a:endParaRPr sz="1600"/>
          </a:p>
          <a:p>
            <a:pPr indent="0" lvl="0" marL="0" rtl="0" algn="l">
              <a:spcBef>
                <a:spcPts val="1600"/>
              </a:spcBef>
              <a:spcAft>
                <a:spcPts val="1600"/>
              </a:spcAft>
              <a:buNone/>
            </a:pPr>
            <a:r>
              <a:rPr lang="en" sz="1600"/>
              <a:t>Infection Rate and Spread</a:t>
            </a:r>
            <a:endParaRPr sz="1600"/>
          </a:p>
        </p:txBody>
      </p:sp>
      <p:grpSp>
        <p:nvGrpSpPr>
          <p:cNvPr id="98" name="Google Shape;98;p14"/>
          <p:cNvGrpSpPr/>
          <p:nvPr/>
        </p:nvGrpSpPr>
        <p:grpSpPr>
          <a:xfrm>
            <a:off x="3320450" y="1304875"/>
            <a:ext cx="2632500" cy="3416400"/>
            <a:chOff x="3320450" y="1304875"/>
            <a:chExt cx="2632500" cy="3416400"/>
          </a:xfrm>
        </p:grpSpPr>
        <p:sp>
          <p:nvSpPr>
            <p:cNvPr id="99" name="Google Shape;99;p14"/>
            <p:cNvSpPr txBox="1"/>
            <p:nvPr/>
          </p:nvSpPr>
          <p:spPr>
            <a:xfrm>
              <a:off x="3324050" y="1304875"/>
              <a:ext cx="2628900" cy="46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4"/>
            <p:cNvSpPr/>
            <p:nvPr/>
          </p:nvSpPr>
          <p:spPr>
            <a:xfrm>
              <a:off x="332045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1" name="Google Shape;101;p14"/>
          <p:cNvSpPr txBox="1"/>
          <p:nvPr>
            <p:ph idx="4294967295" type="body"/>
          </p:nvPr>
        </p:nvSpPr>
        <p:spPr>
          <a:xfrm>
            <a:off x="3389450" y="1304875"/>
            <a:ext cx="2494500" cy="46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The Methods</a:t>
            </a:r>
            <a:endParaRPr>
              <a:solidFill>
                <a:schemeClr val="lt1"/>
              </a:solidFill>
            </a:endParaRPr>
          </a:p>
        </p:txBody>
      </p:sp>
      <p:sp>
        <p:nvSpPr>
          <p:cNvPr id="102" name="Google Shape;102;p14"/>
          <p:cNvSpPr txBox="1"/>
          <p:nvPr>
            <p:ph idx="4294967295" type="body"/>
          </p:nvPr>
        </p:nvSpPr>
        <p:spPr>
          <a:xfrm>
            <a:off x="3396775" y="1850300"/>
            <a:ext cx="2478600" cy="279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How we found the data</a:t>
            </a:r>
            <a:endParaRPr sz="1600"/>
          </a:p>
          <a:p>
            <a:pPr indent="0" lvl="0" marL="0" rtl="0" algn="l">
              <a:spcBef>
                <a:spcPts val="1600"/>
              </a:spcBef>
              <a:spcAft>
                <a:spcPts val="0"/>
              </a:spcAft>
              <a:buNone/>
            </a:pPr>
            <a:r>
              <a:rPr lang="en" sz="1600"/>
              <a:t>Programs we used</a:t>
            </a:r>
            <a:endParaRPr sz="1600"/>
          </a:p>
          <a:p>
            <a:pPr indent="0" lvl="0" marL="0" rtl="0" algn="l">
              <a:spcBef>
                <a:spcPts val="1600"/>
              </a:spcBef>
              <a:spcAft>
                <a:spcPts val="0"/>
              </a:spcAft>
              <a:buNone/>
            </a:pPr>
            <a:r>
              <a:rPr lang="en" sz="1600"/>
              <a:t>Analysis Processes</a:t>
            </a:r>
            <a:endParaRPr sz="1600"/>
          </a:p>
          <a:p>
            <a:pPr indent="0" lvl="0" marL="0" rtl="0" algn="l">
              <a:spcBef>
                <a:spcPts val="1600"/>
              </a:spcBef>
              <a:spcAft>
                <a:spcPts val="1600"/>
              </a:spcAft>
              <a:buNone/>
            </a:pPr>
            <a:r>
              <a:t/>
            </a:r>
            <a:endParaRPr sz="1600"/>
          </a:p>
        </p:txBody>
      </p:sp>
      <p:grpSp>
        <p:nvGrpSpPr>
          <p:cNvPr id="103" name="Google Shape;103;p14"/>
          <p:cNvGrpSpPr/>
          <p:nvPr/>
        </p:nvGrpSpPr>
        <p:grpSpPr>
          <a:xfrm>
            <a:off x="6212550" y="1304875"/>
            <a:ext cx="2632500" cy="3416400"/>
            <a:chOff x="6212550" y="1304875"/>
            <a:chExt cx="2632500" cy="3416400"/>
          </a:xfrm>
        </p:grpSpPr>
        <p:sp>
          <p:nvSpPr>
            <p:cNvPr id="104" name="Google Shape;104;p14"/>
            <p:cNvSpPr/>
            <p:nvPr/>
          </p:nvSpPr>
          <p:spPr>
            <a:xfrm>
              <a:off x="6215400" y="1304875"/>
              <a:ext cx="2628900" cy="3416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4"/>
            <p:cNvSpPr txBox="1"/>
            <p:nvPr/>
          </p:nvSpPr>
          <p:spPr>
            <a:xfrm>
              <a:off x="6212550" y="1304875"/>
              <a:ext cx="2632500" cy="46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 name="Google Shape;106;p14"/>
          <p:cNvSpPr txBox="1"/>
          <p:nvPr>
            <p:ph idx="4294967295" type="body"/>
          </p:nvPr>
        </p:nvSpPr>
        <p:spPr>
          <a:xfrm>
            <a:off x="6272475" y="1304875"/>
            <a:ext cx="2494500" cy="46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rPr>
              <a:t>Conclusion</a:t>
            </a:r>
            <a:endParaRPr>
              <a:solidFill>
                <a:schemeClr val="lt1"/>
              </a:solidFill>
            </a:endParaRPr>
          </a:p>
        </p:txBody>
      </p:sp>
      <p:sp>
        <p:nvSpPr>
          <p:cNvPr id="107" name="Google Shape;107;p14"/>
          <p:cNvSpPr txBox="1"/>
          <p:nvPr>
            <p:ph idx="4294967295" type="body"/>
          </p:nvPr>
        </p:nvSpPr>
        <p:spPr>
          <a:xfrm>
            <a:off x="6286400" y="1850300"/>
            <a:ext cx="2478600" cy="279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What’s next?</a:t>
            </a:r>
            <a:endParaRPr sz="1600"/>
          </a:p>
          <a:p>
            <a:pPr indent="0" lvl="0" marL="0" rtl="0" algn="l">
              <a:spcBef>
                <a:spcPts val="1600"/>
              </a:spcBef>
              <a:spcAft>
                <a:spcPts val="0"/>
              </a:spcAft>
              <a:buNone/>
            </a:pPr>
            <a:r>
              <a:rPr lang="en" sz="1600"/>
              <a:t>Call to Action</a:t>
            </a:r>
            <a:endParaRPr sz="1600"/>
          </a:p>
          <a:p>
            <a:pPr indent="0" lvl="0" marL="0" rtl="0" algn="l">
              <a:spcBef>
                <a:spcPts val="1600"/>
              </a:spcBef>
              <a:spcAft>
                <a:spcPts val="1600"/>
              </a:spcAft>
              <a:buNone/>
            </a:pPr>
            <a:r>
              <a:rPr lang="en" sz="1600"/>
              <a:t>Questions</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1" name="Shape 111"/>
        <p:cNvGrpSpPr/>
        <p:nvPr/>
      </p:nvGrpSpPr>
      <p:grpSpPr>
        <a:xfrm>
          <a:off x="0" y="0"/>
          <a:ext cx="0" cy="0"/>
          <a:chOff x="0" y="0"/>
          <a:chExt cx="0" cy="0"/>
        </a:xfrm>
      </p:grpSpPr>
      <p:sp>
        <p:nvSpPr>
          <p:cNvPr id="112" name="Google Shape;112;p15"/>
          <p:cNvSpPr txBox="1"/>
          <p:nvPr>
            <p:ph type="ctrTitle"/>
          </p:nvPr>
        </p:nvSpPr>
        <p:spPr>
          <a:xfrm>
            <a:off x="598100" y="1775222"/>
            <a:ext cx="8222100" cy="838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Findings</a:t>
            </a:r>
            <a:endParaRPr/>
          </a:p>
        </p:txBody>
      </p:sp>
      <p:sp>
        <p:nvSpPr>
          <p:cNvPr id="113" name="Google Shape;113;p15"/>
          <p:cNvSpPr txBox="1"/>
          <p:nvPr>
            <p:ph idx="1" type="subTitle"/>
          </p:nvPr>
        </p:nvSpPr>
        <p:spPr>
          <a:xfrm>
            <a:off x="598088" y="2715913"/>
            <a:ext cx="8222100" cy="43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t>What we found</a:t>
            </a:r>
            <a:endParaRPr sz="19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7" name="Shape 117"/>
        <p:cNvGrpSpPr/>
        <p:nvPr/>
      </p:nvGrpSpPr>
      <p:grpSpPr>
        <a:xfrm>
          <a:off x="0" y="0"/>
          <a:ext cx="0" cy="0"/>
          <a:chOff x="0" y="0"/>
          <a:chExt cx="0" cy="0"/>
        </a:xfrm>
      </p:grpSpPr>
      <p:sp>
        <p:nvSpPr>
          <p:cNvPr id="118" name="Google Shape;118;p16"/>
          <p:cNvSpPr txBox="1"/>
          <p:nvPr>
            <p:ph type="title"/>
          </p:nvPr>
        </p:nvSpPr>
        <p:spPr>
          <a:xfrm>
            <a:off x="265500" y="1151100"/>
            <a:ext cx="4045200" cy="1564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COVID-19 vs </a:t>
            </a:r>
            <a:r>
              <a:rPr b="1" lang="en"/>
              <a:t>Weather</a:t>
            </a:r>
            <a:endParaRPr b="1"/>
          </a:p>
        </p:txBody>
      </p:sp>
      <p:sp>
        <p:nvSpPr>
          <p:cNvPr id="119" name="Google Shape;119;p16"/>
          <p:cNvSpPr txBox="1"/>
          <p:nvPr>
            <p:ph idx="1" type="subTitle"/>
          </p:nvPr>
        </p:nvSpPr>
        <p:spPr>
          <a:xfrm>
            <a:off x="265500" y="2769001"/>
            <a:ext cx="4045200" cy="1269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A look at the growth rates compared to weather trends</a:t>
            </a:r>
            <a:endParaRPr sz="1800"/>
          </a:p>
        </p:txBody>
      </p:sp>
      <p:pic>
        <p:nvPicPr>
          <p:cNvPr id="120" name="Google Shape;120;p16"/>
          <p:cNvPicPr preferRelativeResize="0"/>
          <p:nvPr/>
        </p:nvPicPr>
        <p:blipFill>
          <a:blip r:embed="rId3">
            <a:alphaModFix/>
          </a:blip>
          <a:stretch>
            <a:fillRect/>
          </a:stretch>
        </p:blipFill>
        <p:spPr>
          <a:xfrm>
            <a:off x="4961025" y="619025"/>
            <a:ext cx="3839425" cy="36652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4" name="Shape 124"/>
        <p:cNvGrpSpPr/>
        <p:nvPr/>
      </p:nvGrpSpPr>
      <p:grpSpPr>
        <a:xfrm>
          <a:off x="0" y="0"/>
          <a:ext cx="0" cy="0"/>
          <a:chOff x="0" y="0"/>
          <a:chExt cx="0" cy="0"/>
        </a:xfrm>
      </p:grpSpPr>
      <p:sp>
        <p:nvSpPr>
          <p:cNvPr id="125" name="Google Shape;125;p17"/>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26" name="Google Shape;126;p17"/>
          <p:cNvPicPr preferRelativeResize="0"/>
          <p:nvPr/>
        </p:nvPicPr>
        <p:blipFill>
          <a:blip r:embed="rId3">
            <a:alphaModFix/>
          </a:blip>
          <a:stretch>
            <a:fillRect/>
          </a:stretch>
        </p:blipFill>
        <p:spPr>
          <a:xfrm>
            <a:off x="0" y="69875"/>
            <a:ext cx="8995826" cy="494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0" name="Shape 130"/>
        <p:cNvGrpSpPr/>
        <p:nvPr/>
      </p:nvGrpSpPr>
      <p:grpSpPr>
        <a:xfrm>
          <a:off x="0" y="0"/>
          <a:ext cx="0" cy="0"/>
          <a:chOff x="0" y="0"/>
          <a:chExt cx="0" cy="0"/>
        </a:xfrm>
      </p:grpSpPr>
      <p:pic>
        <p:nvPicPr>
          <p:cNvPr id="131" name="Google Shape;131;p18"/>
          <p:cNvPicPr preferRelativeResize="0"/>
          <p:nvPr/>
        </p:nvPicPr>
        <p:blipFill>
          <a:blip r:embed="rId3">
            <a:alphaModFix/>
          </a:blip>
          <a:stretch>
            <a:fillRect/>
          </a:stretch>
        </p:blipFill>
        <p:spPr>
          <a:xfrm>
            <a:off x="69875" y="0"/>
            <a:ext cx="9074124" cy="51435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5" name="Shape 135"/>
        <p:cNvGrpSpPr/>
        <p:nvPr/>
      </p:nvGrpSpPr>
      <p:grpSpPr>
        <a:xfrm>
          <a:off x="0" y="0"/>
          <a:ext cx="0" cy="0"/>
          <a:chOff x="0" y="0"/>
          <a:chExt cx="0" cy="0"/>
        </a:xfrm>
      </p:grpSpPr>
      <p:sp>
        <p:nvSpPr>
          <p:cNvPr id="136" name="Google Shape;136;p19"/>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37" name="Google Shape;137;p19"/>
          <p:cNvPicPr preferRelativeResize="0"/>
          <p:nvPr/>
        </p:nvPicPr>
        <p:blipFill>
          <a:blip r:embed="rId3">
            <a:alphaModFix/>
          </a:blip>
          <a:stretch>
            <a:fillRect/>
          </a:stretch>
        </p:blipFill>
        <p:spPr>
          <a:xfrm>
            <a:off x="152400" y="410000"/>
            <a:ext cx="4865299" cy="4581100"/>
          </a:xfrm>
          <a:prstGeom prst="rect">
            <a:avLst/>
          </a:prstGeom>
          <a:noFill/>
          <a:ln>
            <a:noFill/>
          </a:ln>
        </p:spPr>
      </p:pic>
      <p:pic>
        <p:nvPicPr>
          <p:cNvPr id="138" name="Google Shape;138;p19"/>
          <p:cNvPicPr preferRelativeResize="0"/>
          <p:nvPr/>
        </p:nvPicPr>
        <p:blipFill>
          <a:blip r:embed="rId4">
            <a:alphaModFix/>
          </a:blip>
          <a:stretch>
            <a:fillRect/>
          </a:stretch>
        </p:blipFill>
        <p:spPr>
          <a:xfrm>
            <a:off x="5017700" y="410000"/>
            <a:ext cx="3973899" cy="4581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2" name="Shape 142"/>
        <p:cNvGrpSpPr/>
        <p:nvPr/>
      </p:nvGrpSpPr>
      <p:grpSpPr>
        <a:xfrm>
          <a:off x="0" y="0"/>
          <a:ext cx="0" cy="0"/>
          <a:chOff x="0" y="0"/>
          <a:chExt cx="0" cy="0"/>
        </a:xfrm>
      </p:grpSpPr>
      <p:sp>
        <p:nvSpPr>
          <p:cNvPr id="143" name="Google Shape;143;p20"/>
          <p:cNvSpPr txBox="1"/>
          <p:nvPr>
            <p:ph type="title"/>
          </p:nvPr>
        </p:nvSpPr>
        <p:spPr>
          <a:xfrm>
            <a:off x="265500" y="1151100"/>
            <a:ext cx="4045200" cy="1564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COVID-19 vs </a:t>
            </a:r>
            <a:r>
              <a:rPr b="1" lang="en"/>
              <a:t>Expected Cases (IA)</a:t>
            </a:r>
            <a:endParaRPr b="1"/>
          </a:p>
        </p:txBody>
      </p:sp>
      <p:sp>
        <p:nvSpPr>
          <p:cNvPr id="144" name="Google Shape;144;p20"/>
          <p:cNvSpPr txBox="1"/>
          <p:nvPr>
            <p:ph idx="1" type="subTitle"/>
          </p:nvPr>
        </p:nvSpPr>
        <p:spPr>
          <a:xfrm>
            <a:off x="265500" y="2769001"/>
            <a:ext cx="4045200" cy="1269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A look at the expected cases based on deaths</a:t>
            </a:r>
            <a:endParaRPr sz="1800"/>
          </a:p>
        </p:txBody>
      </p:sp>
      <p:pic>
        <p:nvPicPr>
          <p:cNvPr id="145" name="Google Shape;145;p20"/>
          <p:cNvPicPr preferRelativeResize="0"/>
          <p:nvPr/>
        </p:nvPicPr>
        <p:blipFill>
          <a:blip r:embed="rId3">
            <a:alphaModFix/>
          </a:blip>
          <a:stretch>
            <a:fillRect/>
          </a:stretch>
        </p:blipFill>
        <p:spPr>
          <a:xfrm>
            <a:off x="4535575" y="806750"/>
            <a:ext cx="4528500" cy="323155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9" name="Shape 149"/>
        <p:cNvGrpSpPr/>
        <p:nvPr/>
      </p:nvGrpSpPr>
      <p:grpSpPr>
        <a:xfrm>
          <a:off x="0" y="0"/>
          <a:ext cx="0" cy="0"/>
          <a:chOff x="0" y="0"/>
          <a:chExt cx="0" cy="0"/>
        </a:xfrm>
      </p:grpSpPr>
      <p:pic>
        <p:nvPicPr>
          <p:cNvPr id="150" name="Google Shape;150;p21"/>
          <p:cNvPicPr preferRelativeResize="0"/>
          <p:nvPr/>
        </p:nvPicPr>
        <p:blipFill>
          <a:blip r:embed="rId3">
            <a:alphaModFix/>
          </a:blip>
          <a:stretch>
            <a:fillRect/>
          </a:stretch>
        </p:blipFill>
        <p:spPr>
          <a:xfrm>
            <a:off x="602275" y="152400"/>
            <a:ext cx="7939451" cy="4838701"/>
          </a:xfrm>
          <a:prstGeom prst="rect">
            <a:avLst/>
          </a:prstGeom>
          <a:noFill/>
          <a:ln>
            <a:noFill/>
          </a:ln>
        </p:spPr>
      </p:pic>
      <p:sp>
        <p:nvSpPr>
          <p:cNvPr id="151" name="Google Shape;151;p21"/>
          <p:cNvSpPr txBox="1"/>
          <p:nvPr/>
        </p:nvSpPr>
        <p:spPr>
          <a:xfrm>
            <a:off x="1071250" y="590775"/>
            <a:ext cx="2079600" cy="67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Playfair Display"/>
                <a:ea typeface="Playfair Display"/>
                <a:cs typeface="Playfair Display"/>
                <a:sym typeface="Playfair Display"/>
              </a:rPr>
              <a:t>April</a:t>
            </a:r>
            <a:r>
              <a:rPr b="1" lang="en" sz="2400">
                <a:latin typeface="Playfair Display"/>
                <a:ea typeface="Playfair Display"/>
                <a:cs typeface="Playfair Display"/>
                <a:sym typeface="Playfair Display"/>
              </a:rPr>
              <a:t> 1, 2020</a:t>
            </a:r>
            <a:endParaRPr b="1" sz="2400">
              <a:latin typeface="Playfair Display"/>
              <a:ea typeface="Playfair Display"/>
              <a:cs typeface="Playfair Display"/>
              <a:sym typeface="Playfair Displa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5" name="Shape 155"/>
        <p:cNvGrpSpPr/>
        <p:nvPr/>
      </p:nvGrpSpPr>
      <p:grpSpPr>
        <a:xfrm>
          <a:off x="0" y="0"/>
          <a:ext cx="0" cy="0"/>
          <a:chOff x="0" y="0"/>
          <a:chExt cx="0" cy="0"/>
        </a:xfrm>
      </p:grpSpPr>
      <p:pic>
        <p:nvPicPr>
          <p:cNvPr id="156" name="Google Shape;156;p22"/>
          <p:cNvPicPr preferRelativeResize="0"/>
          <p:nvPr/>
        </p:nvPicPr>
        <p:blipFill>
          <a:blip r:embed="rId3">
            <a:alphaModFix/>
          </a:blip>
          <a:stretch>
            <a:fillRect/>
          </a:stretch>
        </p:blipFill>
        <p:spPr>
          <a:xfrm>
            <a:off x="643400" y="152400"/>
            <a:ext cx="7857200" cy="4838700"/>
          </a:xfrm>
          <a:prstGeom prst="rect">
            <a:avLst/>
          </a:prstGeom>
          <a:noFill/>
          <a:ln>
            <a:noFill/>
          </a:ln>
        </p:spPr>
      </p:pic>
      <p:sp>
        <p:nvSpPr>
          <p:cNvPr id="157" name="Google Shape;157;p22"/>
          <p:cNvSpPr txBox="1"/>
          <p:nvPr/>
        </p:nvSpPr>
        <p:spPr>
          <a:xfrm>
            <a:off x="1071250" y="590775"/>
            <a:ext cx="2465400" cy="67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Playfair Display"/>
                <a:ea typeface="Playfair Display"/>
                <a:cs typeface="Playfair Display"/>
                <a:sym typeface="Playfair Display"/>
              </a:rPr>
              <a:t>April</a:t>
            </a:r>
            <a:r>
              <a:rPr b="1" lang="en" sz="2400">
                <a:latin typeface="Playfair Display"/>
                <a:ea typeface="Playfair Display"/>
                <a:cs typeface="Playfair Display"/>
                <a:sym typeface="Playfair Display"/>
              </a:rPr>
              <a:t> 15, 2020</a:t>
            </a:r>
            <a:endParaRPr b="1" sz="2400">
              <a:latin typeface="Playfair Display"/>
              <a:ea typeface="Playfair Display"/>
              <a:cs typeface="Playfair Display"/>
              <a:sym typeface="Playfair Display"/>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1" name="Shape 161"/>
        <p:cNvGrpSpPr/>
        <p:nvPr/>
      </p:nvGrpSpPr>
      <p:grpSpPr>
        <a:xfrm>
          <a:off x="0" y="0"/>
          <a:ext cx="0" cy="0"/>
          <a:chOff x="0" y="0"/>
          <a:chExt cx="0" cy="0"/>
        </a:xfrm>
      </p:grpSpPr>
      <p:pic>
        <p:nvPicPr>
          <p:cNvPr id="162" name="Google Shape;162;p23"/>
          <p:cNvPicPr preferRelativeResize="0"/>
          <p:nvPr/>
        </p:nvPicPr>
        <p:blipFill>
          <a:blip r:embed="rId3">
            <a:alphaModFix/>
          </a:blip>
          <a:stretch>
            <a:fillRect/>
          </a:stretch>
        </p:blipFill>
        <p:spPr>
          <a:xfrm>
            <a:off x="599538" y="152400"/>
            <a:ext cx="7944930" cy="4838699"/>
          </a:xfrm>
          <a:prstGeom prst="rect">
            <a:avLst/>
          </a:prstGeom>
          <a:noFill/>
          <a:ln>
            <a:noFill/>
          </a:ln>
        </p:spPr>
      </p:pic>
      <p:sp>
        <p:nvSpPr>
          <p:cNvPr id="163" name="Google Shape;163;p23"/>
          <p:cNvSpPr txBox="1"/>
          <p:nvPr/>
        </p:nvSpPr>
        <p:spPr>
          <a:xfrm>
            <a:off x="1071250" y="590775"/>
            <a:ext cx="2079600" cy="67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Playfair Display"/>
                <a:ea typeface="Playfair Display"/>
                <a:cs typeface="Playfair Display"/>
                <a:sym typeface="Playfair Display"/>
              </a:rPr>
              <a:t>May 1, 2020</a:t>
            </a:r>
            <a:endParaRPr b="1" sz="2400">
              <a:latin typeface="Playfair Display"/>
              <a:ea typeface="Playfair Display"/>
              <a:cs typeface="Playfair Display"/>
              <a:sym typeface="Playfair Display"/>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7" name="Shape 167"/>
        <p:cNvGrpSpPr/>
        <p:nvPr/>
      </p:nvGrpSpPr>
      <p:grpSpPr>
        <a:xfrm>
          <a:off x="0" y="0"/>
          <a:ext cx="0" cy="0"/>
          <a:chOff x="0" y="0"/>
          <a:chExt cx="0" cy="0"/>
        </a:xfrm>
      </p:grpSpPr>
      <p:sp>
        <p:nvSpPr>
          <p:cNvPr id="168" name="Google Shape;168;p24"/>
          <p:cNvSpPr txBox="1"/>
          <p:nvPr>
            <p:ph type="title"/>
          </p:nvPr>
        </p:nvSpPr>
        <p:spPr>
          <a:xfrm>
            <a:off x="343900" y="-803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Are people dying?</a:t>
            </a:r>
            <a:endParaRPr/>
          </a:p>
        </p:txBody>
      </p:sp>
      <p:pic>
        <p:nvPicPr>
          <p:cNvPr id="169" name="Google Shape;169;p24"/>
          <p:cNvPicPr preferRelativeResize="0"/>
          <p:nvPr/>
        </p:nvPicPr>
        <p:blipFill>
          <a:blip r:embed="rId3">
            <a:alphaModFix/>
          </a:blip>
          <a:stretch>
            <a:fillRect/>
          </a:stretch>
        </p:blipFill>
        <p:spPr>
          <a:xfrm>
            <a:off x="1562650" y="675400"/>
            <a:ext cx="6018692" cy="43718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3" name="Shape 173"/>
        <p:cNvGrpSpPr/>
        <p:nvPr/>
      </p:nvGrpSpPr>
      <p:grpSpPr>
        <a:xfrm>
          <a:off x="0" y="0"/>
          <a:ext cx="0" cy="0"/>
          <a:chOff x="0" y="0"/>
          <a:chExt cx="0" cy="0"/>
        </a:xfrm>
      </p:grpSpPr>
      <p:pic>
        <p:nvPicPr>
          <p:cNvPr id="174" name="Google Shape;174;p25"/>
          <p:cNvPicPr preferRelativeResize="0"/>
          <p:nvPr/>
        </p:nvPicPr>
        <p:blipFill>
          <a:blip r:embed="rId3">
            <a:alphaModFix/>
          </a:blip>
          <a:stretch>
            <a:fillRect/>
          </a:stretch>
        </p:blipFill>
        <p:spPr>
          <a:xfrm>
            <a:off x="1518675" y="466850"/>
            <a:ext cx="6106651" cy="44357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8" name="Shape 178"/>
        <p:cNvGrpSpPr/>
        <p:nvPr/>
      </p:nvGrpSpPr>
      <p:grpSpPr>
        <a:xfrm>
          <a:off x="0" y="0"/>
          <a:ext cx="0" cy="0"/>
          <a:chOff x="0" y="0"/>
          <a:chExt cx="0" cy="0"/>
        </a:xfrm>
      </p:grpSpPr>
      <p:sp>
        <p:nvSpPr>
          <p:cNvPr id="179" name="Google Shape;179;p26"/>
          <p:cNvSpPr txBox="1"/>
          <p:nvPr>
            <p:ph type="title"/>
          </p:nvPr>
        </p:nvSpPr>
        <p:spPr>
          <a:xfrm>
            <a:off x="5938150" y="4912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are the predicted cases?</a:t>
            </a:r>
            <a:endParaRPr/>
          </a:p>
        </p:txBody>
      </p:sp>
      <p:sp>
        <p:nvSpPr>
          <p:cNvPr id="180" name="Google Shape;180;p26"/>
          <p:cNvSpPr txBox="1"/>
          <p:nvPr>
            <p:ph idx="1" type="body"/>
          </p:nvPr>
        </p:nvSpPr>
        <p:spPr>
          <a:xfrm>
            <a:off x="5938150" y="1409454"/>
            <a:ext cx="2808000" cy="310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t>
            </a:r>
            <a:r>
              <a:rPr lang="en"/>
              <a:t>logarithmic</a:t>
            </a:r>
            <a:r>
              <a:rPr lang="en"/>
              <a:t> scale is pictured below.</a:t>
            </a:r>
            <a:endParaRPr/>
          </a:p>
          <a:p>
            <a:pPr indent="0" lvl="0" marL="0" rtl="0" algn="l">
              <a:spcBef>
                <a:spcPts val="1600"/>
              </a:spcBef>
              <a:spcAft>
                <a:spcPts val="1600"/>
              </a:spcAft>
              <a:buNone/>
            </a:pPr>
            <a:r>
              <a:t/>
            </a:r>
            <a:endParaRPr/>
          </a:p>
        </p:txBody>
      </p:sp>
      <p:pic>
        <p:nvPicPr>
          <p:cNvPr id="181" name="Google Shape;181;p26"/>
          <p:cNvPicPr preferRelativeResize="0"/>
          <p:nvPr/>
        </p:nvPicPr>
        <p:blipFill>
          <a:blip r:embed="rId3">
            <a:alphaModFix/>
          </a:blip>
          <a:stretch>
            <a:fillRect/>
          </a:stretch>
        </p:blipFill>
        <p:spPr>
          <a:xfrm>
            <a:off x="144350" y="420725"/>
            <a:ext cx="5633350" cy="4091917"/>
          </a:xfrm>
          <a:prstGeom prst="rect">
            <a:avLst/>
          </a:prstGeom>
          <a:noFill/>
          <a:ln>
            <a:noFill/>
          </a:ln>
        </p:spPr>
      </p:pic>
      <p:pic>
        <p:nvPicPr>
          <p:cNvPr id="182" name="Google Shape;182;p26"/>
          <p:cNvPicPr preferRelativeResize="0"/>
          <p:nvPr/>
        </p:nvPicPr>
        <p:blipFill rotWithShape="1">
          <a:blip r:embed="rId4">
            <a:alphaModFix/>
          </a:blip>
          <a:srcRect b="9227" l="0" r="0" t="11014"/>
          <a:stretch/>
        </p:blipFill>
        <p:spPr>
          <a:xfrm>
            <a:off x="5938150" y="2648200"/>
            <a:ext cx="2954174" cy="17114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6" name="Shape 186"/>
        <p:cNvGrpSpPr/>
        <p:nvPr/>
      </p:nvGrpSpPr>
      <p:grpSpPr>
        <a:xfrm>
          <a:off x="0" y="0"/>
          <a:ext cx="0" cy="0"/>
          <a:chOff x="0" y="0"/>
          <a:chExt cx="0" cy="0"/>
        </a:xfrm>
      </p:grpSpPr>
      <p:sp>
        <p:nvSpPr>
          <p:cNvPr id="187" name="Google Shape;187;p27"/>
          <p:cNvSpPr txBox="1"/>
          <p:nvPr>
            <p:ph type="title"/>
          </p:nvPr>
        </p:nvSpPr>
        <p:spPr>
          <a:xfrm>
            <a:off x="265500" y="1151100"/>
            <a:ext cx="4045200" cy="1564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900"/>
              <a:t>COVID-19 vs </a:t>
            </a:r>
            <a:r>
              <a:rPr b="1" lang="en" sz="3900"/>
              <a:t>Social Distancing</a:t>
            </a:r>
            <a:endParaRPr b="1" sz="3900"/>
          </a:p>
        </p:txBody>
      </p:sp>
      <p:sp>
        <p:nvSpPr>
          <p:cNvPr id="188" name="Google Shape;188;p27"/>
          <p:cNvSpPr txBox="1"/>
          <p:nvPr>
            <p:ph idx="1" type="subTitle"/>
          </p:nvPr>
        </p:nvSpPr>
        <p:spPr>
          <a:xfrm>
            <a:off x="265500" y="2769001"/>
            <a:ext cx="4045200" cy="1269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 look at the R</a:t>
            </a:r>
            <a:r>
              <a:rPr b="1" lang="en" sz="1100"/>
              <a:t>0</a:t>
            </a:r>
            <a:r>
              <a:rPr lang="en"/>
              <a:t> value trends</a:t>
            </a:r>
            <a:endParaRPr/>
          </a:p>
        </p:txBody>
      </p:sp>
      <p:grpSp>
        <p:nvGrpSpPr>
          <p:cNvPr id="189" name="Google Shape;189;p27"/>
          <p:cNvGrpSpPr/>
          <p:nvPr/>
        </p:nvGrpSpPr>
        <p:grpSpPr>
          <a:xfrm>
            <a:off x="4939500" y="1219611"/>
            <a:ext cx="3837000" cy="2704200"/>
            <a:chOff x="4939500" y="1219611"/>
            <a:chExt cx="3837000" cy="2704200"/>
          </a:xfrm>
        </p:grpSpPr>
        <p:cxnSp>
          <p:nvCxnSpPr>
            <p:cNvPr id="190" name="Google Shape;190;p27"/>
            <p:cNvCxnSpPr/>
            <p:nvPr/>
          </p:nvCxnSpPr>
          <p:spPr>
            <a:xfrm>
              <a:off x="4939500" y="1219611"/>
              <a:ext cx="0" cy="2704200"/>
            </a:xfrm>
            <a:prstGeom prst="straightConnector1">
              <a:avLst/>
            </a:prstGeom>
            <a:noFill/>
            <a:ln cap="flat" cmpd="sng" w="9525">
              <a:solidFill>
                <a:schemeClr val="lt1"/>
              </a:solidFill>
              <a:prstDash val="dash"/>
              <a:round/>
              <a:headEnd len="sm" w="sm" type="none"/>
              <a:tailEnd len="sm" w="sm" type="none"/>
            </a:ln>
          </p:spPr>
        </p:cxnSp>
        <p:cxnSp>
          <p:nvCxnSpPr>
            <p:cNvPr id="191" name="Google Shape;191;p27"/>
            <p:cNvCxnSpPr/>
            <p:nvPr/>
          </p:nvCxnSpPr>
          <p:spPr>
            <a:xfrm>
              <a:off x="5365833" y="1219611"/>
              <a:ext cx="0" cy="2704200"/>
            </a:xfrm>
            <a:prstGeom prst="straightConnector1">
              <a:avLst/>
            </a:prstGeom>
            <a:noFill/>
            <a:ln cap="flat" cmpd="sng" w="9525">
              <a:solidFill>
                <a:schemeClr val="lt1"/>
              </a:solidFill>
              <a:prstDash val="dash"/>
              <a:round/>
              <a:headEnd len="sm" w="sm" type="none"/>
              <a:tailEnd len="sm" w="sm" type="none"/>
            </a:ln>
          </p:spPr>
        </p:cxnSp>
        <p:cxnSp>
          <p:nvCxnSpPr>
            <p:cNvPr id="192" name="Google Shape;192;p27"/>
            <p:cNvCxnSpPr/>
            <p:nvPr/>
          </p:nvCxnSpPr>
          <p:spPr>
            <a:xfrm>
              <a:off x="5792167" y="1219611"/>
              <a:ext cx="0" cy="2704200"/>
            </a:xfrm>
            <a:prstGeom prst="straightConnector1">
              <a:avLst/>
            </a:prstGeom>
            <a:noFill/>
            <a:ln cap="flat" cmpd="sng" w="9525">
              <a:solidFill>
                <a:schemeClr val="lt1"/>
              </a:solidFill>
              <a:prstDash val="dash"/>
              <a:round/>
              <a:headEnd len="sm" w="sm" type="none"/>
              <a:tailEnd len="sm" w="sm" type="none"/>
            </a:ln>
          </p:spPr>
        </p:cxnSp>
        <p:cxnSp>
          <p:nvCxnSpPr>
            <p:cNvPr id="193" name="Google Shape;193;p27"/>
            <p:cNvCxnSpPr/>
            <p:nvPr/>
          </p:nvCxnSpPr>
          <p:spPr>
            <a:xfrm>
              <a:off x="6218500" y="1219611"/>
              <a:ext cx="0" cy="2704200"/>
            </a:xfrm>
            <a:prstGeom prst="straightConnector1">
              <a:avLst/>
            </a:prstGeom>
            <a:noFill/>
            <a:ln cap="flat" cmpd="sng" w="9525">
              <a:solidFill>
                <a:schemeClr val="lt1"/>
              </a:solidFill>
              <a:prstDash val="dash"/>
              <a:round/>
              <a:headEnd len="sm" w="sm" type="none"/>
              <a:tailEnd len="sm" w="sm" type="none"/>
            </a:ln>
          </p:spPr>
        </p:cxnSp>
        <p:cxnSp>
          <p:nvCxnSpPr>
            <p:cNvPr id="194" name="Google Shape;194;p27"/>
            <p:cNvCxnSpPr/>
            <p:nvPr/>
          </p:nvCxnSpPr>
          <p:spPr>
            <a:xfrm>
              <a:off x="6644834" y="1219611"/>
              <a:ext cx="0" cy="2704200"/>
            </a:xfrm>
            <a:prstGeom prst="straightConnector1">
              <a:avLst/>
            </a:prstGeom>
            <a:noFill/>
            <a:ln cap="flat" cmpd="sng" w="9525">
              <a:solidFill>
                <a:schemeClr val="lt1"/>
              </a:solidFill>
              <a:prstDash val="dash"/>
              <a:round/>
              <a:headEnd len="sm" w="sm" type="none"/>
              <a:tailEnd len="sm" w="sm" type="none"/>
            </a:ln>
          </p:spPr>
        </p:cxnSp>
        <p:cxnSp>
          <p:nvCxnSpPr>
            <p:cNvPr id="195" name="Google Shape;195;p27"/>
            <p:cNvCxnSpPr/>
            <p:nvPr/>
          </p:nvCxnSpPr>
          <p:spPr>
            <a:xfrm>
              <a:off x="7071166" y="1219611"/>
              <a:ext cx="0" cy="2704200"/>
            </a:xfrm>
            <a:prstGeom prst="straightConnector1">
              <a:avLst/>
            </a:prstGeom>
            <a:noFill/>
            <a:ln cap="flat" cmpd="sng" w="9525">
              <a:solidFill>
                <a:schemeClr val="lt1"/>
              </a:solidFill>
              <a:prstDash val="dash"/>
              <a:round/>
              <a:headEnd len="sm" w="sm" type="none"/>
              <a:tailEnd len="sm" w="sm" type="none"/>
            </a:ln>
          </p:spPr>
        </p:cxnSp>
        <p:cxnSp>
          <p:nvCxnSpPr>
            <p:cNvPr id="196" name="Google Shape;196;p27"/>
            <p:cNvCxnSpPr/>
            <p:nvPr/>
          </p:nvCxnSpPr>
          <p:spPr>
            <a:xfrm>
              <a:off x="7497500" y="1219611"/>
              <a:ext cx="0" cy="2704200"/>
            </a:xfrm>
            <a:prstGeom prst="straightConnector1">
              <a:avLst/>
            </a:prstGeom>
            <a:noFill/>
            <a:ln cap="flat" cmpd="sng" w="9525">
              <a:solidFill>
                <a:schemeClr val="lt1"/>
              </a:solidFill>
              <a:prstDash val="dash"/>
              <a:round/>
              <a:headEnd len="sm" w="sm" type="none"/>
              <a:tailEnd len="sm" w="sm" type="none"/>
            </a:ln>
          </p:spPr>
        </p:cxnSp>
        <p:cxnSp>
          <p:nvCxnSpPr>
            <p:cNvPr id="197" name="Google Shape;197;p27"/>
            <p:cNvCxnSpPr/>
            <p:nvPr/>
          </p:nvCxnSpPr>
          <p:spPr>
            <a:xfrm>
              <a:off x="7923834" y="1219611"/>
              <a:ext cx="0" cy="2704200"/>
            </a:xfrm>
            <a:prstGeom prst="straightConnector1">
              <a:avLst/>
            </a:prstGeom>
            <a:noFill/>
            <a:ln cap="flat" cmpd="sng" w="9525">
              <a:solidFill>
                <a:schemeClr val="lt1"/>
              </a:solidFill>
              <a:prstDash val="dash"/>
              <a:round/>
              <a:headEnd len="sm" w="sm" type="none"/>
              <a:tailEnd len="sm" w="sm" type="none"/>
            </a:ln>
          </p:spPr>
        </p:cxnSp>
        <p:cxnSp>
          <p:nvCxnSpPr>
            <p:cNvPr id="198" name="Google Shape;198;p27"/>
            <p:cNvCxnSpPr/>
            <p:nvPr/>
          </p:nvCxnSpPr>
          <p:spPr>
            <a:xfrm>
              <a:off x="8350166" y="1219611"/>
              <a:ext cx="0" cy="2704200"/>
            </a:xfrm>
            <a:prstGeom prst="straightConnector1">
              <a:avLst/>
            </a:prstGeom>
            <a:noFill/>
            <a:ln cap="flat" cmpd="sng" w="9525">
              <a:solidFill>
                <a:schemeClr val="lt1"/>
              </a:solidFill>
              <a:prstDash val="dash"/>
              <a:round/>
              <a:headEnd len="sm" w="sm" type="none"/>
              <a:tailEnd len="sm" w="sm" type="none"/>
            </a:ln>
          </p:spPr>
        </p:cxnSp>
        <p:cxnSp>
          <p:nvCxnSpPr>
            <p:cNvPr id="199" name="Google Shape;199;p27"/>
            <p:cNvCxnSpPr/>
            <p:nvPr/>
          </p:nvCxnSpPr>
          <p:spPr>
            <a:xfrm>
              <a:off x="8776500" y="1219611"/>
              <a:ext cx="0" cy="2704200"/>
            </a:xfrm>
            <a:prstGeom prst="straightConnector1">
              <a:avLst/>
            </a:prstGeom>
            <a:noFill/>
            <a:ln cap="flat" cmpd="sng" w="9525">
              <a:solidFill>
                <a:schemeClr val="lt1"/>
              </a:solidFill>
              <a:prstDash val="dash"/>
              <a:round/>
              <a:headEnd len="sm" w="sm" type="none"/>
              <a:tailEnd len="sm" w="sm" type="none"/>
            </a:ln>
          </p:spPr>
        </p:cxnSp>
      </p:grpSp>
      <p:grpSp>
        <p:nvGrpSpPr>
          <p:cNvPr id="200" name="Google Shape;200;p27"/>
          <p:cNvGrpSpPr/>
          <p:nvPr/>
        </p:nvGrpSpPr>
        <p:grpSpPr>
          <a:xfrm>
            <a:off x="4939534" y="2017046"/>
            <a:ext cx="3825543" cy="1573620"/>
            <a:chOff x="1000000" y="2393988"/>
            <a:chExt cx="4144235" cy="1704713"/>
          </a:xfrm>
        </p:grpSpPr>
        <p:sp>
          <p:nvSpPr>
            <p:cNvPr id="201" name="Google Shape;201;p27"/>
            <p:cNvSpPr/>
            <p:nvPr/>
          </p:nvSpPr>
          <p:spPr>
            <a:xfrm>
              <a:off x="1000000" y="2440003"/>
              <a:ext cx="4144235" cy="1631268"/>
            </a:xfrm>
            <a:custGeom>
              <a:rect b="b" l="l" r="r" t="t"/>
              <a:pathLst>
                <a:path extrusionOk="0" h="90088" w="165422">
                  <a:moveTo>
                    <a:pt x="0" y="65550"/>
                  </a:moveTo>
                  <a:cubicBezTo>
                    <a:pt x="3559" y="56002"/>
                    <a:pt x="14632" y="11595"/>
                    <a:pt x="21355" y="8262"/>
                  </a:cubicBezTo>
                  <a:cubicBezTo>
                    <a:pt x="28078" y="4929"/>
                    <a:pt x="34067" y="46906"/>
                    <a:pt x="40338" y="45550"/>
                  </a:cubicBezTo>
                  <a:cubicBezTo>
                    <a:pt x="46609" y="44194"/>
                    <a:pt x="52711" y="2161"/>
                    <a:pt x="58982" y="127"/>
                  </a:cubicBezTo>
                  <a:cubicBezTo>
                    <a:pt x="65253" y="-1907"/>
                    <a:pt x="71807" y="30974"/>
                    <a:pt x="77965" y="33347"/>
                  </a:cubicBezTo>
                  <a:cubicBezTo>
                    <a:pt x="84123" y="35720"/>
                    <a:pt x="90055" y="6285"/>
                    <a:pt x="95931" y="14364"/>
                  </a:cubicBezTo>
                  <a:cubicBezTo>
                    <a:pt x="101807" y="22443"/>
                    <a:pt x="107626" y="77414"/>
                    <a:pt x="113219" y="81821"/>
                  </a:cubicBezTo>
                  <a:cubicBezTo>
                    <a:pt x="118812" y="86228"/>
                    <a:pt x="123671" y="39448"/>
                    <a:pt x="129490" y="40804"/>
                  </a:cubicBezTo>
                  <a:cubicBezTo>
                    <a:pt x="135309" y="42160"/>
                    <a:pt x="142145" y="92047"/>
                    <a:pt x="148134" y="89957"/>
                  </a:cubicBezTo>
                  <a:cubicBezTo>
                    <a:pt x="154123" y="87867"/>
                    <a:pt x="162541" y="38545"/>
                    <a:pt x="165422" y="28262"/>
                  </a:cubicBezTo>
                </a:path>
              </a:pathLst>
            </a:custGeom>
            <a:noFill/>
            <a:ln cap="flat" cmpd="sng" w="19050">
              <a:solidFill>
                <a:schemeClr val="lt1"/>
              </a:solidFill>
              <a:prstDash val="solid"/>
              <a:round/>
              <a:headEnd len="med" w="med" type="oval"/>
              <a:tailEnd len="med" w="med" type="oval"/>
            </a:ln>
          </p:spPr>
        </p:sp>
        <p:sp>
          <p:nvSpPr>
            <p:cNvPr id="202" name="Google Shape;202;p27"/>
            <p:cNvSpPr/>
            <p:nvPr/>
          </p:nvSpPr>
          <p:spPr>
            <a:xfrm>
              <a:off x="4658400" y="4014100"/>
              <a:ext cx="84600" cy="84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7"/>
            <p:cNvSpPr/>
            <p:nvPr/>
          </p:nvSpPr>
          <p:spPr>
            <a:xfrm>
              <a:off x="4195525" y="3147350"/>
              <a:ext cx="84600" cy="84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7"/>
            <p:cNvSpPr/>
            <p:nvPr/>
          </p:nvSpPr>
          <p:spPr>
            <a:xfrm>
              <a:off x="3800700" y="3868900"/>
              <a:ext cx="84600" cy="84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7"/>
            <p:cNvSpPr/>
            <p:nvPr/>
          </p:nvSpPr>
          <p:spPr>
            <a:xfrm>
              <a:off x="3358650" y="2637813"/>
              <a:ext cx="84600" cy="84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7"/>
            <p:cNvSpPr/>
            <p:nvPr/>
          </p:nvSpPr>
          <p:spPr>
            <a:xfrm>
              <a:off x="2909400" y="2993013"/>
              <a:ext cx="84600" cy="84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7"/>
            <p:cNvSpPr/>
            <p:nvPr/>
          </p:nvSpPr>
          <p:spPr>
            <a:xfrm>
              <a:off x="2437450" y="2393988"/>
              <a:ext cx="84600" cy="84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7"/>
            <p:cNvSpPr/>
            <p:nvPr/>
          </p:nvSpPr>
          <p:spPr>
            <a:xfrm>
              <a:off x="1974575" y="3213325"/>
              <a:ext cx="84600" cy="84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7"/>
            <p:cNvSpPr/>
            <p:nvPr/>
          </p:nvSpPr>
          <p:spPr>
            <a:xfrm>
              <a:off x="1500000" y="2553225"/>
              <a:ext cx="84600" cy="84600"/>
            </a:xfrm>
            <a:prstGeom prst="ellipse">
              <a:avLst/>
            </a:pr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0" name="Google Shape;210;p27"/>
          <p:cNvGrpSpPr/>
          <p:nvPr/>
        </p:nvGrpSpPr>
        <p:grpSpPr>
          <a:xfrm>
            <a:off x="4939557" y="1778136"/>
            <a:ext cx="3836911" cy="1503799"/>
            <a:chOff x="1000025" y="2059300"/>
            <a:chExt cx="4156550" cy="1629075"/>
          </a:xfrm>
        </p:grpSpPr>
        <p:sp>
          <p:nvSpPr>
            <p:cNvPr id="211" name="Google Shape;211;p27"/>
            <p:cNvSpPr/>
            <p:nvPr/>
          </p:nvSpPr>
          <p:spPr>
            <a:xfrm>
              <a:off x="1000025" y="2083952"/>
              <a:ext cx="4156550" cy="1576975"/>
            </a:xfrm>
            <a:custGeom>
              <a:rect b="b" l="l" r="r" t="t"/>
              <a:pathLst>
                <a:path extrusionOk="0" h="63079" w="166262">
                  <a:moveTo>
                    <a:pt x="0" y="34952"/>
                  </a:moveTo>
                  <a:cubicBezTo>
                    <a:pt x="3623" y="29133"/>
                    <a:pt x="14946" y="1167"/>
                    <a:pt x="21740" y="37"/>
                  </a:cubicBezTo>
                  <a:cubicBezTo>
                    <a:pt x="28534" y="-1093"/>
                    <a:pt x="34478" y="24048"/>
                    <a:pt x="40762" y="28172"/>
                  </a:cubicBezTo>
                  <a:cubicBezTo>
                    <a:pt x="47046" y="32296"/>
                    <a:pt x="53256" y="18986"/>
                    <a:pt x="59446" y="24782"/>
                  </a:cubicBezTo>
                  <a:cubicBezTo>
                    <a:pt x="65636" y="30578"/>
                    <a:pt x="71730" y="60803"/>
                    <a:pt x="77901" y="62950"/>
                  </a:cubicBezTo>
                  <a:cubicBezTo>
                    <a:pt x="84072" y="65097"/>
                    <a:pt x="90490" y="39675"/>
                    <a:pt x="96472" y="37664"/>
                  </a:cubicBezTo>
                  <a:cubicBezTo>
                    <a:pt x="102455" y="35653"/>
                    <a:pt x="108078" y="54726"/>
                    <a:pt x="113796" y="50884"/>
                  </a:cubicBezTo>
                  <a:cubicBezTo>
                    <a:pt x="119514" y="47042"/>
                    <a:pt x="125063" y="18059"/>
                    <a:pt x="130781" y="14613"/>
                  </a:cubicBezTo>
                  <a:cubicBezTo>
                    <a:pt x="136499" y="11167"/>
                    <a:pt x="142192" y="30515"/>
                    <a:pt x="148105" y="30206"/>
                  </a:cubicBezTo>
                  <a:cubicBezTo>
                    <a:pt x="154019" y="29897"/>
                    <a:pt x="163236" y="15665"/>
                    <a:pt x="166262" y="12757"/>
                  </a:cubicBezTo>
                </a:path>
              </a:pathLst>
            </a:custGeom>
            <a:noFill/>
            <a:ln cap="flat" cmpd="sng" w="19050">
              <a:solidFill>
                <a:schemeClr val="accent4"/>
              </a:solidFill>
              <a:prstDash val="solid"/>
              <a:round/>
              <a:headEnd len="med" w="med" type="oval"/>
              <a:tailEnd len="med" w="med" type="oval"/>
            </a:ln>
          </p:spPr>
        </p:sp>
        <p:sp>
          <p:nvSpPr>
            <p:cNvPr id="212" name="Google Shape;212;p27"/>
            <p:cNvSpPr/>
            <p:nvPr/>
          </p:nvSpPr>
          <p:spPr>
            <a:xfrm>
              <a:off x="1500000" y="2059300"/>
              <a:ext cx="84600" cy="84600"/>
            </a:xfrm>
            <a:prstGeom prst="ellipse">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7"/>
            <p:cNvSpPr/>
            <p:nvPr/>
          </p:nvSpPr>
          <p:spPr>
            <a:xfrm>
              <a:off x="1974575" y="2737275"/>
              <a:ext cx="84600" cy="84600"/>
            </a:xfrm>
            <a:prstGeom prst="ellipse">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7"/>
            <p:cNvSpPr/>
            <p:nvPr/>
          </p:nvSpPr>
          <p:spPr>
            <a:xfrm>
              <a:off x="2437450" y="2652675"/>
              <a:ext cx="84600" cy="84600"/>
            </a:xfrm>
            <a:prstGeom prst="ellipse">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7"/>
            <p:cNvSpPr/>
            <p:nvPr/>
          </p:nvSpPr>
          <p:spPr>
            <a:xfrm>
              <a:off x="2909400" y="3603775"/>
              <a:ext cx="84600" cy="84600"/>
            </a:xfrm>
            <a:prstGeom prst="ellipse">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7"/>
            <p:cNvSpPr/>
            <p:nvPr/>
          </p:nvSpPr>
          <p:spPr>
            <a:xfrm>
              <a:off x="3358650" y="2993025"/>
              <a:ext cx="84600" cy="84600"/>
            </a:xfrm>
            <a:prstGeom prst="ellipse">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7"/>
            <p:cNvSpPr/>
            <p:nvPr/>
          </p:nvSpPr>
          <p:spPr>
            <a:xfrm>
              <a:off x="3780700" y="3315225"/>
              <a:ext cx="84600" cy="84600"/>
            </a:xfrm>
            <a:prstGeom prst="ellipse">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7"/>
            <p:cNvSpPr/>
            <p:nvPr/>
          </p:nvSpPr>
          <p:spPr>
            <a:xfrm>
              <a:off x="4216350" y="2412175"/>
              <a:ext cx="84600" cy="84600"/>
            </a:xfrm>
            <a:prstGeom prst="ellipse">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7"/>
            <p:cNvSpPr/>
            <p:nvPr/>
          </p:nvSpPr>
          <p:spPr>
            <a:xfrm>
              <a:off x="4658400" y="2802450"/>
              <a:ext cx="84600" cy="84600"/>
            </a:xfrm>
            <a:prstGeom prst="ellipse">
              <a:avLst/>
            </a:prstGeom>
            <a:solidFill>
              <a:schemeClr val="accent4"/>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3" name="Shape 223"/>
        <p:cNvGrpSpPr/>
        <p:nvPr/>
      </p:nvGrpSpPr>
      <p:grpSpPr>
        <a:xfrm>
          <a:off x="0" y="0"/>
          <a:ext cx="0" cy="0"/>
          <a:chOff x="0" y="0"/>
          <a:chExt cx="0" cy="0"/>
        </a:xfrm>
      </p:grpSpPr>
      <p:pic>
        <p:nvPicPr>
          <p:cNvPr id="224" name="Google Shape;224;p28"/>
          <p:cNvPicPr preferRelativeResize="0"/>
          <p:nvPr/>
        </p:nvPicPr>
        <p:blipFill>
          <a:blip r:embed="rId3">
            <a:alphaModFix/>
          </a:blip>
          <a:stretch>
            <a:fillRect/>
          </a:stretch>
        </p:blipFill>
        <p:spPr>
          <a:xfrm>
            <a:off x="152400" y="152400"/>
            <a:ext cx="8839198" cy="4666552"/>
          </a:xfrm>
          <a:prstGeom prst="rect">
            <a:avLst/>
          </a:prstGeom>
          <a:noFill/>
          <a:ln>
            <a:noFill/>
          </a:ln>
        </p:spPr>
      </p:pic>
      <p:sp>
        <p:nvSpPr>
          <p:cNvPr id="225" name="Google Shape;225;p28"/>
          <p:cNvSpPr txBox="1"/>
          <p:nvPr/>
        </p:nvSpPr>
        <p:spPr>
          <a:xfrm>
            <a:off x="1071250" y="590775"/>
            <a:ext cx="3229500" cy="67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Playfair Display"/>
                <a:ea typeface="Playfair Display"/>
                <a:cs typeface="Playfair Display"/>
                <a:sym typeface="Playfair Display"/>
              </a:rPr>
              <a:t>February</a:t>
            </a:r>
            <a:r>
              <a:rPr b="1" lang="en" sz="2400">
                <a:latin typeface="Playfair Display"/>
                <a:ea typeface="Playfair Display"/>
                <a:cs typeface="Playfair Display"/>
                <a:sym typeface="Playfair Display"/>
              </a:rPr>
              <a:t> 1, 2020</a:t>
            </a:r>
            <a:endParaRPr b="1" sz="2400">
              <a:latin typeface="Playfair Display"/>
              <a:ea typeface="Playfair Display"/>
              <a:cs typeface="Playfair Display"/>
              <a:sym typeface="Playfair Display"/>
            </a:endParaRPr>
          </a:p>
        </p:txBody>
      </p:sp>
      <p:sp>
        <p:nvSpPr>
          <p:cNvPr id="226" name="Google Shape;226;p28"/>
          <p:cNvSpPr/>
          <p:nvPr/>
        </p:nvSpPr>
        <p:spPr>
          <a:xfrm>
            <a:off x="5652350" y="1972365"/>
            <a:ext cx="396550" cy="442825"/>
          </a:xfrm>
          <a:custGeom>
            <a:rect b="b" l="l" r="r" t="t"/>
            <a:pathLst>
              <a:path extrusionOk="0" h="17713" w="15862">
                <a:moveTo>
                  <a:pt x="10452" y="1421"/>
                </a:moveTo>
                <a:cubicBezTo>
                  <a:pt x="5796" y="2585"/>
                  <a:pt x="0" y="6524"/>
                  <a:pt x="0" y="11323"/>
                </a:cubicBezTo>
                <a:cubicBezTo>
                  <a:pt x="0" y="15998"/>
                  <a:pt x="8117" y="18507"/>
                  <a:pt x="12652" y="17374"/>
                </a:cubicBezTo>
                <a:cubicBezTo>
                  <a:pt x="18213" y="15984"/>
                  <a:pt x="15579" y="-2243"/>
                  <a:pt x="10452" y="320"/>
                </a:cubicBezTo>
              </a:path>
            </a:pathLst>
          </a:custGeom>
          <a:noFill/>
          <a:ln cap="flat" cmpd="sng" w="9525">
            <a:solidFill>
              <a:schemeClr val="dk2"/>
            </a:solidFill>
            <a:prstDash val="solid"/>
            <a:round/>
            <a:headEnd len="med" w="med" type="none"/>
            <a:tailEnd len="med" w="med" type="none"/>
          </a:ln>
        </p:spPr>
      </p:sp>
      <p:sp>
        <p:nvSpPr>
          <p:cNvPr id="227" name="Google Shape;227;p28"/>
          <p:cNvSpPr/>
          <p:nvPr/>
        </p:nvSpPr>
        <p:spPr>
          <a:xfrm>
            <a:off x="6100151" y="2819300"/>
            <a:ext cx="179450" cy="256375"/>
          </a:xfrm>
          <a:custGeom>
            <a:rect b="b" l="l" r="r" t="t"/>
            <a:pathLst>
              <a:path extrusionOk="0" h="10255" w="7178">
                <a:moveTo>
                  <a:pt x="3542" y="0"/>
                </a:moveTo>
                <a:cubicBezTo>
                  <a:pt x="1558" y="0"/>
                  <a:pt x="-241" y="3027"/>
                  <a:pt x="241" y="4951"/>
                </a:cubicBezTo>
                <a:cubicBezTo>
                  <a:pt x="840" y="7344"/>
                  <a:pt x="3690" y="11270"/>
                  <a:pt x="5743" y="9902"/>
                </a:cubicBezTo>
                <a:cubicBezTo>
                  <a:pt x="8355" y="8162"/>
                  <a:pt x="6862" y="2770"/>
                  <a:pt x="4642" y="550"/>
                </a:cubicBezTo>
              </a:path>
            </a:pathLst>
          </a:custGeom>
          <a:noFill/>
          <a:ln cap="flat" cmpd="sng" w="9525">
            <a:solidFill>
              <a:schemeClr val="dk2"/>
            </a:solidFill>
            <a:prstDash val="solid"/>
            <a:round/>
            <a:headEnd len="med" w="med" type="none"/>
            <a:tailEnd len="med" w="med" type="none"/>
          </a:ln>
        </p:spPr>
      </p:sp>
      <p:sp>
        <p:nvSpPr>
          <p:cNvPr id="228" name="Google Shape;228;p28"/>
          <p:cNvSpPr/>
          <p:nvPr/>
        </p:nvSpPr>
        <p:spPr>
          <a:xfrm>
            <a:off x="7845178" y="2024619"/>
            <a:ext cx="288625" cy="330350"/>
          </a:xfrm>
          <a:custGeom>
            <a:rect b="b" l="l" r="r" t="t"/>
            <a:pathLst>
              <a:path extrusionOk="0" h="13214" w="11545">
                <a:moveTo>
                  <a:pt x="10756" y="3181"/>
                </a:moveTo>
                <a:cubicBezTo>
                  <a:pt x="7517" y="2210"/>
                  <a:pt x="2730" y="-1832"/>
                  <a:pt x="854" y="981"/>
                </a:cubicBezTo>
                <a:cubicBezTo>
                  <a:pt x="-1301" y="4214"/>
                  <a:pt x="1019" y="10754"/>
                  <a:pt x="4705" y="11983"/>
                </a:cubicBezTo>
                <a:cubicBezTo>
                  <a:pt x="5971" y="12405"/>
                  <a:pt x="7247" y="13345"/>
                  <a:pt x="8556" y="13083"/>
                </a:cubicBezTo>
                <a:cubicBezTo>
                  <a:pt x="12263" y="12342"/>
                  <a:pt x="11306" y="5861"/>
                  <a:pt x="11306" y="2081"/>
                </a:cubicBezTo>
              </a:path>
            </a:pathLst>
          </a:custGeom>
          <a:noFill/>
          <a:ln cap="flat" cmpd="sng" w="9525">
            <a:solidFill>
              <a:schemeClr val="dk2"/>
            </a:solidFill>
            <a:prstDash val="solid"/>
            <a:round/>
            <a:headEnd len="med" w="med" type="none"/>
            <a:tailEnd len="med" w="med" type="none"/>
          </a:ln>
        </p:spPr>
      </p:sp>
      <p:sp>
        <p:nvSpPr>
          <p:cNvPr id="229" name="Google Shape;229;p28"/>
          <p:cNvSpPr/>
          <p:nvPr/>
        </p:nvSpPr>
        <p:spPr>
          <a:xfrm>
            <a:off x="529313" y="2585500"/>
            <a:ext cx="305775" cy="366875"/>
          </a:xfrm>
          <a:custGeom>
            <a:rect b="b" l="l" r="r" t="t"/>
            <a:pathLst>
              <a:path extrusionOk="0" h="14675" w="12231">
                <a:moveTo>
                  <a:pt x="6332" y="0"/>
                </a:moveTo>
                <a:cubicBezTo>
                  <a:pt x="3148" y="1593"/>
                  <a:pt x="-845" y="5424"/>
                  <a:pt x="281" y="8802"/>
                </a:cubicBezTo>
                <a:cubicBezTo>
                  <a:pt x="1279" y="11795"/>
                  <a:pt x="5161" y="15714"/>
                  <a:pt x="7983" y="14303"/>
                </a:cubicBezTo>
                <a:cubicBezTo>
                  <a:pt x="11613" y="12488"/>
                  <a:pt x="12629" y="6731"/>
                  <a:pt x="11833" y="2751"/>
                </a:cubicBezTo>
                <a:cubicBezTo>
                  <a:pt x="11431" y="741"/>
                  <a:pt x="8382" y="0"/>
                  <a:pt x="6332" y="0"/>
                </a:cubicBezTo>
              </a:path>
            </a:pathLst>
          </a:custGeom>
          <a:noFill/>
          <a:ln cap="flat" cmpd="sng" w="9525">
            <a:solidFill>
              <a:schemeClr val="dk2"/>
            </a:solidFill>
            <a:prstDash val="solid"/>
            <a:round/>
            <a:headEnd len="med" w="med" type="none"/>
            <a:tailEnd len="med" w="med" type="none"/>
          </a:ln>
        </p:spPr>
      </p:sp>
      <p:sp>
        <p:nvSpPr>
          <p:cNvPr id="230" name="Google Shape;230;p28"/>
          <p:cNvSpPr/>
          <p:nvPr/>
        </p:nvSpPr>
        <p:spPr>
          <a:xfrm>
            <a:off x="973415" y="3176875"/>
            <a:ext cx="344025" cy="211125"/>
          </a:xfrm>
          <a:custGeom>
            <a:rect b="b" l="l" r="r" t="t"/>
            <a:pathLst>
              <a:path extrusionOk="0" h="8445" w="13761">
                <a:moveTo>
                  <a:pt x="11673" y="0"/>
                </a:moveTo>
                <a:cubicBezTo>
                  <a:pt x="7874" y="1266"/>
                  <a:pt x="-850" y="-585"/>
                  <a:pt x="121" y="3300"/>
                </a:cubicBezTo>
                <a:cubicBezTo>
                  <a:pt x="899" y="6412"/>
                  <a:pt x="5260" y="9029"/>
                  <a:pt x="8372" y="8251"/>
                </a:cubicBezTo>
                <a:cubicBezTo>
                  <a:pt x="11240" y="7534"/>
                  <a:pt x="15730" y="550"/>
                  <a:pt x="12773" y="550"/>
                </a:cubicBezTo>
              </a:path>
            </a:pathLst>
          </a:custGeom>
          <a:noFill/>
          <a:ln cap="flat" cmpd="sng" w="9525">
            <a:solidFill>
              <a:schemeClr val="dk2"/>
            </a:solidFill>
            <a:prstDash val="solid"/>
            <a:round/>
            <a:headEnd len="med" w="med" type="none"/>
            <a:tailEnd len="med" w="med" type="none"/>
          </a:ln>
        </p:spPr>
      </p:sp>
      <p:sp>
        <p:nvSpPr>
          <p:cNvPr id="231" name="Google Shape;231;p28"/>
          <p:cNvSpPr/>
          <p:nvPr/>
        </p:nvSpPr>
        <p:spPr>
          <a:xfrm>
            <a:off x="1910881" y="3340171"/>
            <a:ext cx="273875" cy="337975"/>
          </a:xfrm>
          <a:custGeom>
            <a:rect b="b" l="l" r="r" t="t"/>
            <a:pathLst>
              <a:path extrusionOk="0" h="13519" w="10955">
                <a:moveTo>
                  <a:pt x="6081" y="1169"/>
                </a:moveTo>
                <a:cubicBezTo>
                  <a:pt x="4759" y="508"/>
                  <a:pt x="2567" y="-564"/>
                  <a:pt x="1680" y="619"/>
                </a:cubicBezTo>
                <a:cubicBezTo>
                  <a:pt x="15" y="2839"/>
                  <a:pt x="-297" y="6238"/>
                  <a:pt x="580" y="8871"/>
                </a:cubicBezTo>
                <a:cubicBezTo>
                  <a:pt x="1592" y="11909"/>
                  <a:pt x="7117" y="14985"/>
                  <a:pt x="9382" y="12721"/>
                </a:cubicBezTo>
                <a:cubicBezTo>
                  <a:pt x="12465" y="9640"/>
                  <a:pt x="10440" y="69"/>
                  <a:pt x="6081" y="69"/>
                </a:cubicBezTo>
              </a:path>
            </a:pathLst>
          </a:custGeom>
          <a:noFill/>
          <a:ln cap="flat" cmpd="sng" w="9525">
            <a:solidFill>
              <a:schemeClr val="dk2"/>
            </a:solidFill>
            <a:prstDash val="solid"/>
            <a:round/>
            <a:headEnd len="med" w="med" type="none"/>
            <a:tailEnd len="med" w="med" type="none"/>
          </a:ln>
        </p:spPr>
      </p:sp>
      <p:sp>
        <p:nvSpPr>
          <p:cNvPr id="232" name="Google Shape;232;p28"/>
          <p:cNvSpPr/>
          <p:nvPr/>
        </p:nvSpPr>
        <p:spPr>
          <a:xfrm>
            <a:off x="2056114" y="1984999"/>
            <a:ext cx="321200" cy="251775"/>
          </a:xfrm>
          <a:custGeom>
            <a:rect b="b" l="l" r="r" t="t"/>
            <a:pathLst>
              <a:path extrusionOk="0" h="10071" w="12848">
                <a:moveTo>
                  <a:pt x="10723" y="366"/>
                </a:moveTo>
                <a:cubicBezTo>
                  <a:pt x="7210" y="685"/>
                  <a:pt x="1126" y="-1406"/>
                  <a:pt x="271" y="2016"/>
                </a:cubicBezTo>
                <a:cubicBezTo>
                  <a:pt x="-815" y="6359"/>
                  <a:pt x="7026" y="11133"/>
                  <a:pt x="11273" y="9717"/>
                </a:cubicBezTo>
                <a:cubicBezTo>
                  <a:pt x="14311" y="8704"/>
                  <a:pt x="12275" y="366"/>
                  <a:pt x="9073" y="366"/>
                </a:cubicBezTo>
              </a:path>
            </a:pathLst>
          </a:custGeom>
          <a:noFill/>
          <a:ln cap="flat" cmpd="sng" w="9525">
            <a:solidFill>
              <a:schemeClr val="dk2"/>
            </a:solidFill>
            <a:prstDash val="solid"/>
            <a:round/>
            <a:headEnd len="med" w="med" type="none"/>
            <a:tailEnd len="med" w="med" type="none"/>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6" name="Shape 236"/>
        <p:cNvGrpSpPr/>
        <p:nvPr/>
      </p:nvGrpSpPr>
      <p:grpSpPr>
        <a:xfrm>
          <a:off x="0" y="0"/>
          <a:ext cx="0" cy="0"/>
          <a:chOff x="0" y="0"/>
          <a:chExt cx="0" cy="0"/>
        </a:xfrm>
      </p:grpSpPr>
      <p:pic>
        <p:nvPicPr>
          <p:cNvPr id="237" name="Google Shape;237;p29"/>
          <p:cNvPicPr preferRelativeResize="0"/>
          <p:nvPr/>
        </p:nvPicPr>
        <p:blipFill>
          <a:blip r:embed="rId3">
            <a:alphaModFix/>
          </a:blip>
          <a:stretch>
            <a:fillRect/>
          </a:stretch>
        </p:blipFill>
        <p:spPr>
          <a:xfrm>
            <a:off x="152400" y="152400"/>
            <a:ext cx="8773838" cy="4838700"/>
          </a:xfrm>
          <a:prstGeom prst="rect">
            <a:avLst/>
          </a:prstGeom>
          <a:noFill/>
          <a:ln>
            <a:noFill/>
          </a:ln>
        </p:spPr>
      </p:pic>
      <p:sp>
        <p:nvSpPr>
          <p:cNvPr id="238" name="Google Shape;238;p29"/>
          <p:cNvSpPr txBox="1"/>
          <p:nvPr/>
        </p:nvSpPr>
        <p:spPr>
          <a:xfrm>
            <a:off x="1071250" y="590775"/>
            <a:ext cx="3500700" cy="67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Playfair Display"/>
                <a:ea typeface="Playfair Display"/>
                <a:cs typeface="Playfair Display"/>
                <a:sym typeface="Playfair Display"/>
              </a:rPr>
              <a:t>March</a:t>
            </a:r>
            <a:r>
              <a:rPr b="1" lang="en" sz="2400">
                <a:latin typeface="Playfair Display"/>
                <a:ea typeface="Playfair Display"/>
                <a:cs typeface="Playfair Display"/>
                <a:sym typeface="Playfair Display"/>
              </a:rPr>
              <a:t> 1, 2020</a:t>
            </a:r>
            <a:endParaRPr b="1" sz="2400">
              <a:latin typeface="Playfair Display"/>
              <a:ea typeface="Playfair Display"/>
              <a:cs typeface="Playfair Display"/>
              <a:sym typeface="Playfair Display"/>
            </a:endParaRPr>
          </a:p>
        </p:txBody>
      </p:sp>
      <p:sp>
        <p:nvSpPr>
          <p:cNvPr id="239" name="Google Shape;239;p29"/>
          <p:cNvSpPr/>
          <p:nvPr/>
        </p:nvSpPr>
        <p:spPr>
          <a:xfrm>
            <a:off x="1848497" y="1805420"/>
            <a:ext cx="629550" cy="557600"/>
          </a:xfrm>
          <a:custGeom>
            <a:rect b="b" l="l" r="r" t="t"/>
            <a:pathLst>
              <a:path extrusionOk="0" h="22304" w="25182">
                <a:moveTo>
                  <a:pt x="16278" y="3148"/>
                </a:moveTo>
                <a:cubicBezTo>
                  <a:pt x="12417" y="5720"/>
                  <a:pt x="7224" y="5474"/>
                  <a:pt x="3075" y="7549"/>
                </a:cubicBezTo>
                <a:cubicBezTo>
                  <a:pt x="529" y="8822"/>
                  <a:pt x="-977" y="13639"/>
                  <a:pt x="875" y="15800"/>
                </a:cubicBezTo>
                <a:cubicBezTo>
                  <a:pt x="5603" y="21317"/>
                  <a:pt x="17191" y="24789"/>
                  <a:pt x="22329" y="19651"/>
                </a:cubicBezTo>
                <a:cubicBezTo>
                  <a:pt x="26897" y="15083"/>
                  <a:pt x="25503" y="3980"/>
                  <a:pt x="20128" y="397"/>
                </a:cubicBezTo>
                <a:cubicBezTo>
                  <a:pt x="17745" y="-1192"/>
                  <a:pt x="15552" y="3873"/>
                  <a:pt x="13527" y="5898"/>
                </a:cubicBezTo>
              </a:path>
            </a:pathLst>
          </a:custGeom>
          <a:noFill/>
          <a:ln cap="flat" cmpd="sng" w="9525">
            <a:solidFill>
              <a:schemeClr val="dk2"/>
            </a:solidFill>
            <a:prstDash val="solid"/>
            <a:round/>
            <a:headEnd len="med" w="med" type="none"/>
            <a:tailEnd len="med" w="med" type="none"/>
          </a:ln>
        </p:spPr>
      </p:sp>
      <p:sp>
        <p:nvSpPr>
          <p:cNvPr id="240" name="Google Shape;240;p29"/>
          <p:cNvSpPr/>
          <p:nvPr/>
        </p:nvSpPr>
        <p:spPr>
          <a:xfrm>
            <a:off x="525540" y="2241930"/>
            <a:ext cx="341050" cy="860850"/>
          </a:xfrm>
          <a:custGeom>
            <a:rect b="b" l="l" r="r" t="t"/>
            <a:pathLst>
              <a:path extrusionOk="0" h="34434" w="13642">
                <a:moveTo>
                  <a:pt x="2082" y="1641"/>
                </a:moveTo>
                <a:cubicBezTo>
                  <a:pt x="-1434" y="12190"/>
                  <a:pt x="-1003" y="36794"/>
                  <a:pt x="9784" y="34097"/>
                </a:cubicBezTo>
                <a:cubicBezTo>
                  <a:pt x="16388" y="32446"/>
                  <a:pt x="12553" y="20457"/>
                  <a:pt x="11434" y="13743"/>
                </a:cubicBezTo>
                <a:cubicBezTo>
                  <a:pt x="10708" y="9387"/>
                  <a:pt x="14008" y="2991"/>
                  <a:pt x="10334" y="541"/>
                </a:cubicBezTo>
                <a:cubicBezTo>
                  <a:pt x="7869" y="-1102"/>
                  <a:pt x="4179" y="1748"/>
                  <a:pt x="2082" y="3841"/>
                </a:cubicBezTo>
              </a:path>
            </a:pathLst>
          </a:custGeom>
          <a:noFill/>
          <a:ln cap="flat" cmpd="sng" w="9525">
            <a:solidFill>
              <a:schemeClr val="dk2"/>
            </a:solidFill>
            <a:prstDash val="solid"/>
            <a:round/>
            <a:headEnd len="med" w="med" type="none"/>
            <a:tailEnd len="med" w="med" type="none"/>
          </a:ln>
        </p:spPr>
      </p:sp>
      <p:sp>
        <p:nvSpPr>
          <p:cNvPr id="241" name="Google Shape;241;p29"/>
          <p:cNvSpPr/>
          <p:nvPr/>
        </p:nvSpPr>
        <p:spPr>
          <a:xfrm>
            <a:off x="935175" y="3158389"/>
            <a:ext cx="526575" cy="480500"/>
          </a:xfrm>
          <a:custGeom>
            <a:rect b="b" l="l" r="r" t="t"/>
            <a:pathLst>
              <a:path extrusionOk="0" h="19220" w="21063">
                <a:moveTo>
                  <a:pt x="4401" y="2939"/>
                </a:moveTo>
                <a:cubicBezTo>
                  <a:pt x="6289" y="9548"/>
                  <a:pt x="14891" y="23511"/>
                  <a:pt x="18704" y="17792"/>
                </a:cubicBezTo>
                <a:cubicBezTo>
                  <a:pt x="21762" y="13205"/>
                  <a:pt x="22192" y="4346"/>
                  <a:pt x="17604" y="1289"/>
                </a:cubicBezTo>
                <a:cubicBezTo>
                  <a:pt x="12531" y="-2091"/>
                  <a:pt x="4310" y="1930"/>
                  <a:pt x="0" y="6240"/>
                </a:cubicBezTo>
              </a:path>
            </a:pathLst>
          </a:custGeom>
          <a:noFill/>
          <a:ln cap="flat" cmpd="sng" w="9525">
            <a:solidFill>
              <a:schemeClr val="dk2"/>
            </a:solidFill>
            <a:prstDash val="solid"/>
            <a:round/>
            <a:headEnd len="med" w="med" type="none"/>
            <a:tailEnd len="med" w="med" type="none"/>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5" name="Shape 245"/>
        <p:cNvGrpSpPr/>
        <p:nvPr/>
      </p:nvGrpSpPr>
      <p:grpSpPr>
        <a:xfrm>
          <a:off x="0" y="0"/>
          <a:ext cx="0" cy="0"/>
          <a:chOff x="0" y="0"/>
          <a:chExt cx="0" cy="0"/>
        </a:xfrm>
      </p:grpSpPr>
      <p:pic>
        <p:nvPicPr>
          <p:cNvPr id="246" name="Google Shape;246;p30"/>
          <p:cNvPicPr preferRelativeResize="0"/>
          <p:nvPr/>
        </p:nvPicPr>
        <p:blipFill>
          <a:blip r:embed="rId3">
            <a:alphaModFix/>
          </a:blip>
          <a:stretch>
            <a:fillRect/>
          </a:stretch>
        </p:blipFill>
        <p:spPr>
          <a:xfrm>
            <a:off x="152400" y="152400"/>
            <a:ext cx="8341758" cy="4838699"/>
          </a:xfrm>
          <a:prstGeom prst="rect">
            <a:avLst/>
          </a:prstGeom>
          <a:noFill/>
          <a:ln>
            <a:noFill/>
          </a:ln>
        </p:spPr>
      </p:pic>
      <p:sp>
        <p:nvSpPr>
          <p:cNvPr id="247" name="Google Shape;247;p30"/>
          <p:cNvSpPr txBox="1"/>
          <p:nvPr/>
        </p:nvSpPr>
        <p:spPr>
          <a:xfrm>
            <a:off x="1071250" y="590775"/>
            <a:ext cx="2079600" cy="67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Playfair Display"/>
                <a:ea typeface="Playfair Display"/>
                <a:cs typeface="Playfair Display"/>
                <a:sym typeface="Playfair Display"/>
              </a:rPr>
              <a:t>April </a:t>
            </a:r>
            <a:r>
              <a:rPr b="1" lang="en" sz="2400">
                <a:latin typeface="Playfair Display"/>
                <a:ea typeface="Playfair Display"/>
                <a:cs typeface="Playfair Display"/>
                <a:sym typeface="Playfair Display"/>
              </a:rPr>
              <a:t>1, 2020</a:t>
            </a:r>
            <a:endParaRPr b="1" sz="2400">
              <a:latin typeface="Playfair Display"/>
              <a:ea typeface="Playfair Display"/>
              <a:cs typeface="Playfair Display"/>
              <a:sym typeface="Playfair Display"/>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1" name="Shape 251"/>
        <p:cNvGrpSpPr/>
        <p:nvPr/>
      </p:nvGrpSpPr>
      <p:grpSpPr>
        <a:xfrm>
          <a:off x="0" y="0"/>
          <a:ext cx="0" cy="0"/>
          <a:chOff x="0" y="0"/>
          <a:chExt cx="0" cy="0"/>
        </a:xfrm>
      </p:grpSpPr>
      <p:pic>
        <p:nvPicPr>
          <p:cNvPr id="252" name="Google Shape;252;p31"/>
          <p:cNvPicPr preferRelativeResize="0"/>
          <p:nvPr/>
        </p:nvPicPr>
        <p:blipFill>
          <a:blip r:embed="rId3">
            <a:alphaModFix/>
          </a:blip>
          <a:stretch>
            <a:fillRect/>
          </a:stretch>
        </p:blipFill>
        <p:spPr>
          <a:xfrm>
            <a:off x="152400" y="152400"/>
            <a:ext cx="8733262" cy="4838699"/>
          </a:xfrm>
          <a:prstGeom prst="rect">
            <a:avLst/>
          </a:prstGeom>
          <a:noFill/>
          <a:ln>
            <a:noFill/>
          </a:ln>
        </p:spPr>
      </p:pic>
      <p:sp>
        <p:nvSpPr>
          <p:cNvPr id="253" name="Google Shape;253;p31"/>
          <p:cNvSpPr txBox="1"/>
          <p:nvPr/>
        </p:nvSpPr>
        <p:spPr>
          <a:xfrm>
            <a:off x="1071250" y="590775"/>
            <a:ext cx="2079600" cy="67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Playfair Display"/>
                <a:ea typeface="Playfair Display"/>
                <a:cs typeface="Playfair Display"/>
                <a:sym typeface="Playfair Display"/>
              </a:rPr>
              <a:t>May 1, 2020</a:t>
            </a:r>
            <a:endParaRPr b="1" sz="2400">
              <a:latin typeface="Playfair Display"/>
              <a:ea typeface="Playfair Display"/>
              <a:cs typeface="Playfair Display"/>
              <a:sym typeface="Playfair Display"/>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7" name="Shape 257"/>
        <p:cNvGrpSpPr/>
        <p:nvPr/>
      </p:nvGrpSpPr>
      <p:grpSpPr>
        <a:xfrm>
          <a:off x="0" y="0"/>
          <a:ext cx="0" cy="0"/>
          <a:chOff x="0" y="0"/>
          <a:chExt cx="0" cy="0"/>
        </a:xfrm>
      </p:grpSpPr>
      <p:pic>
        <p:nvPicPr>
          <p:cNvPr id="258" name="Google Shape;258;p32"/>
          <p:cNvPicPr preferRelativeResize="0"/>
          <p:nvPr/>
        </p:nvPicPr>
        <p:blipFill>
          <a:blip r:embed="rId3">
            <a:alphaModFix/>
          </a:blip>
          <a:stretch>
            <a:fillRect/>
          </a:stretch>
        </p:blipFill>
        <p:spPr>
          <a:xfrm>
            <a:off x="1241275" y="152400"/>
            <a:ext cx="6661448" cy="48387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2" name="Shape 262"/>
        <p:cNvGrpSpPr/>
        <p:nvPr/>
      </p:nvGrpSpPr>
      <p:grpSpPr>
        <a:xfrm>
          <a:off x="0" y="0"/>
          <a:ext cx="0" cy="0"/>
          <a:chOff x="0" y="0"/>
          <a:chExt cx="0" cy="0"/>
        </a:xfrm>
      </p:grpSpPr>
      <p:sp>
        <p:nvSpPr>
          <p:cNvPr id="263" name="Google Shape;263;p33"/>
          <p:cNvSpPr txBox="1"/>
          <p:nvPr>
            <p:ph type="ctrTitle"/>
          </p:nvPr>
        </p:nvSpPr>
        <p:spPr>
          <a:xfrm>
            <a:off x="598100" y="1775222"/>
            <a:ext cx="8222100" cy="838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Methods</a:t>
            </a:r>
            <a:endParaRPr/>
          </a:p>
        </p:txBody>
      </p:sp>
      <p:sp>
        <p:nvSpPr>
          <p:cNvPr id="264" name="Google Shape;264;p33"/>
          <p:cNvSpPr txBox="1"/>
          <p:nvPr>
            <p:ph idx="1" type="subTitle"/>
          </p:nvPr>
        </p:nvSpPr>
        <p:spPr>
          <a:xfrm>
            <a:off x="598088" y="2715913"/>
            <a:ext cx="8222100" cy="43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t>How we analyzed the data</a:t>
            </a:r>
            <a:endParaRPr sz="19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8" name="Shape 268"/>
        <p:cNvGrpSpPr/>
        <p:nvPr/>
      </p:nvGrpSpPr>
      <p:grpSpPr>
        <a:xfrm>
          <a:off x="0" y="0"/>
          <a:ext cx="0" cy="0"/>
          <a:chOff x="0" y="0"/>
          <a:chExt cx="0" cy="0"/>
        </a:xfrm>
      </p:grpSpPr>
      <p:sp>
        <p:nvSpPr>
          <p:cNvPr id="269" name="Google Shape;269;p3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Case Predictions</a:t>
            </a:r>
            <a:endParaRPr/>
          </a:p>
        </p:txBody>
      </p:sp>
      <p:sp>
        <p:nvSpPr>
          <p:cNvPr id="270" name="Google Shape;270;p34"/>
          <p:cNvSpPr txBox="1"/>
          <p:nvPr>
            <p:ph idx="1" type="body"/>
          </p:nvPr>
        </p:nvSpPr>
        <p:spPr>
          <a:xfrm>
            <a:off x="311700" y="1229975"/>
            <a:ext cx="3999900" cy="1893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Data sourced from John Hopkins University.</a:t>
            </a:r>
            <a:endParaRPr/>
          </a:p>
          <a:p>
            <a:pPr indent="-317500" lvl="0" marL="457200" rtl="0" algn="l">
              <a:spcBef>
                <a:spcPts val="0"/>
              </a:spcBef>
              <a:spcAft>
                <a:spcPts val="0"/>
              </a:spcAft>
              <a:buSzPts val="1400"/>
              <a:buChar char="●"/>
            </a:pPr>
            <a:r>
              <a:rPr lang="en"/>
              <a:t>Average of 14 days from infection until death.</a:t>
            </a:r>
            <a:endParaRPr/>
          </a:p>
          <a:p>
            <a:pPr indent="-317500" lvl="0" marL="457200" rtl="0" algn="l">
              <a:spcBef>
                <a:spcPts val="0"/>
              </a:spcBef>
              <a:spcAft>
                <a:spcPts val="0"/>
              </a:spcAft>
              <a:buSzPts val="1400"/>
              <a:buChar char="●"/>
            </a:pPr>
            <a:r>
              <a:rPr lang="en"/>
              <a:t>Use death rate of a region to predict how many cases currently exist based on current deaths.</a:t>
            </a:r>
            <a:endParaRPr/>
          </a:p>
        </p:txBody>
      </p:sp>
      <p:sp>
        <p:nvSpPr>
          <p:cNvPr id="271" name="Google Shape;271;p34"/>
          <p:cNvSpPr txBox="1"/>
          <p:nvPr>
            <p:ph idx="2" type="body"/>
          </p:nvPr>
        </p:nvSpPr>
        <p:spPr>
          <a:xfrm>
            <a:off x="4832400" y="1229975"/>
            <a:ext cx="3999900" cy="19173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R</a:t>
            </a:r>
            <a:r>
              <a:rPr b="1" lang="en" sz="800"/>
              <a:t>0</a:t>
            </a:r>
            <a:r>
              <a:rPr lang="en"/>
              <a:t> (rate of infection) can be found by looking at past data and using linear regression to predict the future.</a:t>
            </a:r>
            <a:endParaRPr/>
          </a:p>
          <a:p>
            <a:pPr indent="-317500" lvl="0" marL="457200" rtl="0" algn="l">
              <a:spcBef>
                <a:spcPts val="0"/>
              </a:spcBef>
              <a:spcAft>
                <a:spcPts val="0"/>
              </a:spcAft>
              <a:buSzPts val="1400"/>
              <a:buChar char="●"/>
            </a:pPr>
            <a:r>
              <a:rPr lang="en"/>
              <a:t>Prediction as of May 1st was 86,342 people could potentially have it.</a:t>
            </a:r>
            <a:endParaRPr/>
          </a:p>
        </p:txBody>
      </p:sp>
      <p:pic>
        <p:nvPicPr>
          <p:cNvPr id="272" name="Google Shape;272;p34"/>
          <p:cNvPicPr preferRelativeResize="0"/>
          <p:nvPr/>
        </p:nvPicPr>
        <p:blipFill>
          <a:blip r:embed="rId3">
            <a:alphaModFix/>
          </a:blip>
          <a:stretch>
            <a:fillRect/>
          </a:stretch>
        </p:blipFill>
        <p:spPr>
          <a:xfrm>
            <a:off x="104637" y="3335150"/>
            <a:ext cx="8934725" cy="16418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6" name="Shape 276"/>
        <p:cNvGrpSpPr/>
        <p:nvPr/>
      </p:nvGrpSpPr>
      <p:grpSpPr>
        <a:xfrm>
          <a:off x="0" y="0"/>
          <a:ext cx="0" cy="0"/>
          <a:chOff x="0" y="0"/>
          <a:chExt cx="0" cy="0"/>
        </a:xfrm>
      </p:grpSpPr>
      <p:pic>
        <p:nvPicPr>
          <p:cNvPr id="277" name="Google Shape;277;p35"/>
          <p:cNvPicPr preferRelativeResize="0"/>
          <p:nvPr/>
        </p:nvPicPr>
        <p:blipFill>
          <a:blip r:embed="rId3">
            <a:alphaModFix/>
          </a:blip>
          <a:stretch>
            <a:fillRect/>
          </a:stretch>
        </p:blipFill>
        <p:spPr>
          <a:xfrm>
            <a:off x="152400" y="152400"/>
            <a:ext cx="8839202" cy="476275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1" name="Shape 281"/>
        <p:cNvGrpSpPr/>
        <p:nvPr/>
      </p:nvGrpSpPr>
      <p:grpSpPr>
        <a:xfrm>
          <a:off x="0" y="0"/>
          <a:ext cx="0" cy="0"/>
          <a:chOff x="0" y="0"/>
          <a:chExt cx="0" cy="0"/>
        </a:xfrm>
      </p:grpSpPr>
      <p:pic>
        <p:nvPicPr>
          <p:cNvPr id="282" name="Google Shape;282;p36"/>
          <p:cNvPicPr preferRelativeResize="0"/>
          <p:nvPr/>
        </p:nvPicPr>
        <p:blipFill>
          <a:blip r:embed="rId3">
            <a:alphaModFix/>
          </a:blip>
          <a:stretch>
            <a:fillRect/>
          </a:stretch>
        </p:blipFill>
        <p:spPr>
          <a:xfrm>
            <a:off x="152400" y="152400"/>
            <a:ext cx="8839200" cy="476027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6" name="Shape 286"/>
        <p:cNvGrpSpPr/>
        <p:nvPr/>
      </p:nvGrpSpPr>
      <p:grpSpPr>
        <a:xfrm>
          <a:off x="0" y="0"/>
          <a:ext cx="0" cy="0"/>
          <a:chOff x="0" y="0"/>
          <a:chExt cx="0" cy="0"/>
        </a:xfrm>
      </p:grpSpPr>
      <p:pic>
        <p:nvPicPr>
          <p:cNvPr id="287" name="Google Shape;287;p37"/>
          <p:cNvPicPr preferRelativeResize="0"/>
          <p:nvPr/>
        </p:nvPicPr>
        <p:blipFill>
          <a:blip r:embed="rId3">
            <a:alphaModFix/>
          </a:blip>
          <a:stretch>
            <a:fillRect/>
          </a:stretch>
        </p:blipFill>
        <p:spPr>
          <a:xfrm>
            <a:off x="1241275" y="152400"/>
            <a:ext cx="6661448" cy="48387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1" name="Shape 291"/>
        <p:cNvGrpSpPr/>
        <p:nvPr/>
      </p:nvGrpSpPr>
      <p:grpSpPr>
        <a:xfrm>
          <a:off x="0" y="0"/>
          <a:ext cx="0" cy="0"/>
          <a:chOff x="0" y="0"/>
          <a:chExt cx="0" cy="0"/>
        </a:xfrm>
      </p:grpSpPr>
      <p:pic>
        <p:nvPicPr>
          <p:cNvPr id="292" name="Google Shape;292;p38"/>
          <p:cNvPicPr preferRelativeResize="0"/>
          <p:nvPr/>
        </p:nvPicPr>
        <p:blipFill>
          <a:blip r:embed="rId3">
            <a:alphaModFix/>
          </a:blip>
          <a:stretch>
            <a:fillRect/>
          </a:stretch>
        </p:blipFill>
        <p:spPr>
          <a:xfrm>
            <a:off x="152400" y="152400"/>
            <a:ext cx="8839200" cy="2708131"/>
          </a:xfrm>
          <a:prstGeom prst="rect">
            <a:avLst/>
          </a:prstGeom>
          <a:noFill/>
          <a:ln>
            <a:noFill/>
          </a:ln>
        </p:spPr>
      </p:pic>
      <p:pic>
        <p:nvPicPr>
          <p:cNvPr id="293" name="Google Shape;293;p38"/>
          <p:cNvPicPr preferRelativeResize="0"/>
          <p:nvPr/>
        </p:nvPicPr>
        <p:blipFill>
          <a:blip r:embed="rId4">
            <a:alphaModFix/>
          </a:blip>
          <a:stretch>
            <a:fillRect/>
          </a:stretch>
        </p:blipFill>
        <p:spPr>
          <a:xfrm>
            <a:off x="152400" y="3012931"/>
            <a:ext cx="4574516" cy="1978169"/>
          </a:xfrm>
          <a:prstGeom prst="rect">
            <a:avLst/>
          </a:prstGeom>
          <a:noFill/>
          <a:ln>
            <a:noFill/>
          </a:ln>
        </p:spPr>
      </p:pic>
      <p:pic>
        <p:nvPicPr>
          <p:cNvPr id="294" name="Google Shape;294;p38"/>
          <p:cNvPicPr preferRelativeResize="0"/>
          <p:nvPr/>
        </p:nvPicPr>
        <p:blipFill rotWithShape="1">
          <a:blip r:embed="rId5">
            <a:alphaModFix/>
          </a:blip>
          <a:srcRect b="9016" l="0" r="13141" t="0"/>
          <a:stretch/>
        </p:blipFill>
        <p:spPr>
          <a:xfrm>
            <a:off x="4902925" y="2964813"/>
            <a:ext cx="4088664" cy="20744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8" name="Shape 298"/>
        <p:cNvGrpSpPr/>
        <p:nvPr/>
      </p:nvGrpSpPr>
      <p:grpSpPr>
        <a:xfrm>
          <a:off x="0" y="0"/>
          <a:ext cx="0" cy="0"/>
          <a:chOff x="0" y="0"/>
          <a:chExt cx="0" cy="0"/>
        </a:xfrm>
      </p:grpSpPr>
      <p:pic>
        <p:nvPicPr>
          <p:cNvPr id="299" name="Google Shape;299;p39"/>
          <p:cNvPicPr preferRelativeResize="0"/>
          <p:nvPr/>
        </p:nvPicPr>
        <p:blipFill>
          <a:blip r:embed="rId3">
            <a:alphaModFix/>
          </a:blip>
          <a:stretch>
            <a:fillRect/>
          </a:stretch>
        </p:blipFill>
        <p:spPr>
          <a:xfrm>
            <a:off x="1243663" y="152400"/>
            <a:ext cx="6656678" cy="48387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3" name="Shape 303"/>
        <p:cNvGrpSpPr/>
        <p:nvPr/>
      </p:nvGrpSpPr>
      <p:grpSpPr>
        <a:xfrm>
          <a:off x="0" y="0"/>
          <a:ext cx="0" cy="0"/>
          <a:chOff x="0" y="0"/>
          <a:chExt cx="0" cy="0"/>
        </a:xfrm>
      </p:grpSpPr>
      <p:sp>
        <p:nvSpPr>
          <p:cNvPr id="304" name="Google Shape;304;p40"/>
          <p:cNvSpPr txBox="1"/>
          <p:nvPr>
            <p:ph type="title"/>
          </p:nvPr>
        </p:nvSpPr>
        <p:spPr>
          <a:xfrm>
            <a:off x="265500" y="1465025"/>
            <a:ext cx="4045200" cy="1564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Conclusion</a:t>
            </a:r>
            <a:endParaRPr/>
          </a:p>
        </p:txBody>
      </p:sp>
      <p:pic>
        <p:nvPicPr>
          <p:cNvPr id="305" name="Google Shape;305;p40"/>
          <p:cNvPicPr preferRelativeResize="0"/>
          <p:nvPr/>
        </p:nvPicPr>
        <p:blipFill>
          <a:blip r:embed="rId3">
            <a:alphaModFix/>
          </a:blip>
          <a:stretch>
            <a:fillRect/>
          </a:stretch>
        </p:blipFill>
        <p:spPr>
          <a:xfrm>
            <a:off x="5443178" y="754299"/>
            <a:ext cx="3191646" cy="3179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9" name="Shape 309"/>
        <p:cNvGrpSpPr/>
        <p:nvPr/>
      </p:nvGrpSpPr>
      <p:grpSpPr>
        <a:xfrm>
          <a:off x="0" y="0"/>
          <a:ext cx="0" cy="0"/>
          <a:chOff x="0" y="0"/>
          <a:chExt cx="0" cy="0"/>
        </a:xfrm>
      </p:grpSpPr>
      <p:sp>
        <p:nvSpPr>
          <p:cNvPr id="310" name="Google Shape;310;p41"/>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Weather</a:t>
            </a:r>
            <a:endParaRPr/>
          </a:p>
        </p:txBody>
      </p:sp>
      <p:sp>
        <p:nvSpPr>
          <p:cNvPr id="311" name="Google Shape;311;p41"/>
          <p:cNvSpPr txBox="1"/>
          <p:nvPr>
            <p:ph idx="1" type="body"/>
          </p:nvPr>
        </p:nvSpPr>
        <p:spPr>
          <a:xfrm>
            <a:off x="311700" y="1229975"/>
            <a:ext cx="3999900" cy="33390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lang="en" sz="1300">
                <a:solidFill>
                  <a:srgbClr val="000000"/>
                </a:solidFill>
                <a:latin typeface="Arial"/>
                <a:ea typeface="Arial"/>
                <a:cs typeface="Arial"/>
                <a:sym typeface="Arial"/>
              </a:rPr>
              <a:t>Our findings show that for the confirmed number of covid-19 cases gradually rises and really never spikes at any given time, it's just a continuous upward sloping line that really hasn't peaked yet</a:t>
            </a:r>
            <a:endParaRPr sz="1300">
              <a:solidFill>
                <a:srgbClr val="000000"/>
              </a:solidFill>
              <a:latin typeface="Arial"/>
              <a:ea typeface="Arial"/>
              <a:cs typeface="Arial"/>
              <a:sym typeface="Arial"/>
            </a:endParaRPr>
          </a:p>
          <a:p>
            <a:pPr indent="0" lvl="0" marL="0" rtl="0" algn="l">
              <a:lnSpc>
                <a:spcPct val="200000"/>
              </a:lnSpc>
              <a:spcBef>
                <a:spcPts val="0"/>
              </a:spcBef>
              <a:spcAft>
                <a:spcPts val="0"/>
              </a:spcAft>
              <a:buNone/>
            </a:pPr>
            <a:r>
              <a:rPr lang="en" sz="1300">
                <a:solidFill>
                  <a:srgbClr val="000000"/>
                </a:solidFill>
                <a:latin typeface="Arial"/>
                <a:ea typeface="Arial"/>
                <a:cs typeface="Arial"/>
                <a:sym typeface="Arial"/>
              </a:rPr>
              <a:t>As for the weather, this graph shows the highs and lows of the weather for each day, and what we see on this graph is that its all over the place and not steady like the confirmed covid-19 cases graph</a:t>
            </a:r>
            <a:endParaRPr sz="1300">
              <a:solidFill>
                <a:srgbClr val="000000"/>
              </a:solidFill>
              <a:latin typeface="Arial"/>
              <a:ea typeface="Arial"/>
              <a:cs typeface="Arial"/>
              <a:sym typeface="Arial"/>
            </a:endParaRPr>
          </a:p>
          <a:p>
            <a:pPr indent="0" lvl="0" marL="0" rtl="0" algn="l">
              <a:lnSpc>
                <a:spcPct val="200000"/>
              </a:lnSpc>
              <a:spcBef>
                <a:spcPts val="0"/>
              </a:spcBef>
              <a:spcAft>
                <a:spcPts val="0"/>
              </a:spcAft>
              <a:buNone/>
            </a:pPr>
            <a:r>
              <a:t/>
            </a:r>
            <a:endParaRPr/>
          </a:p>
        </p:txBody>
      </p:sp>
      <p:sp>
        <p:nvSpPr>
          <p:cNvPr id="312" name="Google Shape;312;p41"/>
          <p:cNvSpPr txBox="1"/>
          <p:nvPr>
            <p:ph idx="2" type="body"/>
          </p:nvPr>
        </p:nvSpPr>
        <p:spPr>
          <a:xfrm>
            <a:off x="4832400" y="1229975"/>
            <a:ext cx="3999900" cy="33390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lang="en" sz="1300">
                <a:solidFill>
                  <a:srgbClr val="000000"/>
                </a:solidFill>
                <a:latin typeface="Arial"/>
                <a:ea typeface="Arial"/>
                <a:cs typeface="Arial"/>
                <a:sym typeface="Arial"/>
              </a:rPr>
              <a:t> By comparing the two graphs, we concluded that there wasn't a correlation between the weather and confirmed cases. We made this conclusion based off the movement and direction of which each graph was headed in and with the confirmed cases graph going continuously up and the weather graph going up and down constantly, we saw there was no correlation.</a:t>
            </a:r>
            <a:endParaRPr sz="1500">
              <a:solidFill>
                <a:srgbClr val="000000"/>
              </a:solidFill>
              <a:latin typeface="Arial"/>
              <a:ea typeface="Arial"/>
              <a:cs typeface="Arial"/>
              <a:sym typeface="Arial"/>
            </a:endParaRPr>
          </a:p>
          <a:p>
            <a:pPr indent="0" lvl="0" marL="0" rtl="0" algn="l">
              <a:spcBef>
                <a:spcPts val="0"/>
              </a:spcBef>
              <a:spcAft>
                <a:spcPts val="16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6" name="Shape 316"/>
        <p:cNvGrpSpPr/>
        <p:nvPr/>
      </p:nvGrpSpPr>
      <p:grpSpPr>
        <a:xfrm>
          <a:off x="0" y="0"/>
          <a:ext cx="0" cy="0"/>
          <a:chOff x="0" y="0"/>
          <a:chExt cx="0" cy="0"/>
        </a:xfrm>
      </p:grpSpPr>
      <p:sp>
        <p:nvSpPr>
          <p:cNvPr id="317" name="Google Shape;317;p42"/>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Case Predictions</a:t>
            </a:r>
            <a:endParaRPr/>
          </a:p>
        </p:txBody>
      </p:sp>
      <p:sp>
        <p:nvSpPr>
          <p:cNvPr id="318" name="Google Shape;318;p42"/>
          <p:cNvSpPr txBox="1"/>
          <p:nvPr>
            <p:ph idx="1" type="body"/>
          </p:nvPr>
        </p:nvSpPr>
        <p:spPr>
          <a:xfrm>
            <a:off x="311700" y="1229975"/>
            <a:ext cx="3999900" cy="333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Using the case prediction model gives a good glimpse of what is really out there.</a:t>
            </a:r>
            <a:endParaRPr sz="1600"/>
          </a:p>
          <a:p>
            <a:pPr indent="0" lvl="0" marL="0" rtl="0" algn="l">
              <a:spcBef>
                <a:spcPts val="1600"/>
              </a:spcBef>
              <a:spcAft>
                <a:spcPts val="0"/>
              </a:spcAft>
              <a:buNone/>
            </a:pPr>
            <a:r>
              <a:rPr lang="en" sz="1600"/>
              <a:t>Our findings show the importance of social distancing because of the great series interval COVID-19 has. </a:t>
            </a:r>
            <a:endParaRPr sz="1600"/>
          </a:p>
          <a:p>
            <a:pPr indent="0" lvl="0" marL="0" rtl="0" algn="l">
              <a:spcBef>
                <a:spcPts val="1600"/>
              </a:spcBef>
              <a:spcAft>
                <a:spcPts val="1600"/>
              </a:spcAft>
              <a:buNone/>
            </a:pPr>
            <a:r>
              <a:rPr lang="en" sz="1600"/>
              <a:t>If there were more social distancing rules in place, the cases wouldn’t be growing </a:t>
            </a:r>
            <a:r>
              <a:rPr lang="en" sz="1600"/>
              <a:t>exponentially</a:t>
            </a:r>
            <a:r>
              <a:rPr lang="en" sz="1600"/>
              <a:t>, even though things seem fine.</a:t>
            </a:r>
            <a:endParaRPr sz="1600"/>
          </a:p>
        </p:txBody>
      </p:sp>
      <p:sp>
        <p:nvSpPr>
          <p:cNvPr id="319" name="Google Shape;319;p42"/>
          <p:cNvSpPr txBox="1"/>
          <p:nvPr>
            <p:ph idx="2" type="body"/>
          </p:nvPr>
        </p:nvSpPr>
        <p:spPr>
          <a:xfrm>
            <a:off x="4832400" y="1229975"/>
            <a:ext cx="3999900" cy="333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With this information, we would hope a greater emphasis is placed on social distancing.</a:t>
            </a:r>
            <a:endParaRPr sz="1600"/>
          </a:p>
          <a:p>
            <a:pPr indent="0" lvl="0" marL="0" rtl="0" algn="l">
              <a:spcBef>
                <a:spcPts val="1600"/>
              </a:spcBef>
              <a:spcAft>
                <a:spcPts val="1600"/>
              </a:spcAft>
              <a:buNone/>
            </a:pPr>
            <a:r>
              <a:rPr lang="en" sz="1600"/>
              <a:t>We all want this to be over, but if we keep on spreading the disease around, it will never end until there is a vaccine. </a:t>
            </a:r>
            <a:endParaRPr sz="16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23" name="Shape 323"/>
        <p:cNvGrpSpPr/>
        <p:nvPr/>
      </p:nvGrpSpPr>
      <p:grpSpPr>
        <a:xfrm>
          <a:off x="0" y="0"/>
          <a:ext cx="0" cy="0"/>
          <a:chOff x="0" y="0"/>
          <a:chExt cx="0" cy="0"/>
        </a:xfrm>
      </p:grpSpPr>
      <p:sp>
        <p:nvSpPr>
          <p:cNvPr id="324" name="Google Shape;324;p43"/>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Rate of Infection</a:t>
            </a:r>
            <a:endParaRPr/>
          </a:p>
        </p:txBody>
      </p:sp>
      <p:sp>
        <p:nvSpPr>
          <p:cNvPr id="325" name="Google Shape;325;p43"/>
          <p:cNvSpPr txBox="1"/>
          <p:nvPr>
            <p:ph idx="1" type="body"/>
          </p:nvPr>
        </p:nvSpPr>
        <p:spPr>
          <a:xfrm>
            <a:off x="311700" y="1229975"/>
            <a:ext cx="3999900" cy="333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visualizations used for the cases confirmed in America gives us a nice visual representation of how quickly this virus can spread. </a:t>
            </a:r>
            <a:endParaRPr/>
          </a:p>
          <a:p>
            <a:pPr indent="0" lvl="0" marL="0" rtl="0" algn="l">
              <a:spcBef>
                <a:spcPts val="1600"/>
              </a:spcBef>
              <a:spcAft>
                <a:spcPts val="0"/>
              </a:spcAft>
              <a:buNone/>
            </a:pPr>
            <a:r>
              <a:rPr lang="en"/>
              <a:t>Our findings in this area also show the important role that social distancing plays in slowing the spread.</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326" name="Google Shape;326;p43"/>
          <p:cNvSpPr txBox="1"/>
          <p:nvPr>
            <p:ph idx="2" type="body"/>
          </p:nvPr>
        </p:nvSpPr>
        <p:spPr>
          <a:xfrm>
            <a:off x="4832400" y="1229975"/>
            <a:ext cx="3999900" cy="333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end of the R0 Growth visualization raises slight concern as we start to see a steady increase of confirmed cases in Iowa along with an increase in our R0 value.</a:t>
            </a:r>
            <a:endParaRPr/>
          </a:p>
          <a:p>
            <a:pPr indent="0" lvl="0" marL="0" rtl="0" algn="l">
              <a:spcBef>
                <a:spcPts val="1600"/>
              </a:spcBef>
              <a:spcAft>
                <a:spcPts val="1600"/>
              </a:spcAft>
              <a:buNone/>
            </a:pPr>
            <a:r>
              <a:rPr lang="en"/>
              <a:t>We could possibly explore more into the amount of testing Iowa has done to see if this is the cause in a rise of cases.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0" name="Shape 330"/>
        <p:cNvGrpSpPr/>
        <p:nvPr/>
      </p:nvGrpSpPr>
      <p:grpSpPr>
        <a:xfrm>
          <a:off x="0" y="0"/>
          <a:ext cx="0" cy="0"/>
          <a:chOff x="0" y="0"/>
          <a:chExt cx="0" cy="0"/>
        </a:xfrm>
      </p:grpSpPr>
      <p:sp>
        <p:nvSpPr>
          <p:cNvPr id="331" name="Google Shape;331;p44"/>
          <p:cNvSpPr txBox="1"/>
          <p:nvPr>
            <p:ph type="title"/>
          </p:nvPr>
        </p:nvSpPr>
        <p:spPr>
          <a:xfrm>
            <a:off x="598100" y="2152347"/>
            <a:ext cx="8222100" cy="83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Questions?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5" name="Shape 335"/>
        <p:cNvGrpSpPr/>
        <p:nvPr/>
      </p:nvGrpSpPr>
      <p:grpSpPr>
        <a:xfrm>
          <a:off x="0" y="0"/>
          <a:ext cx="0" cy="0"/>
          <a:chOff x="0" y="0"/>
          <a:chExt cx="0" cy="0"/>
        </a:xfrm>
      </p:grpSpPr>
      <p:sp>
        <p:nvSpPr>
          <p:cNvPr id="336" name="Google Shape;336;p45"/>
          <p:cNvSpPr txBox="1"/>
          <p:nvPr>
            <p:ph type="title"/>
          </p:nvPr>
        </p:nvSpPr>
        <p:spPr>
          <a:xfrm>
            <a:off x="598100" y="2152347"/>
            <a:ext cx="8222100" cy="838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